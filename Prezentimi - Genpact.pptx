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69" r:id="rId5"/>
    <p:sldId id="259" r:id="rId6"/>
    <p:sldId id="260" r:id="rId7"/>
    <p:sldId id="270" r:id="rId8"/>
    <p:sldId id="261" r:id="rId9"/>
    <p:sldId id="262" r:id="rId10"/>
    <p:sldId id="263" r:id="rId11"/>
    <p:sldId id="264" r:id="rId12"/>
    <p:sldId id="265" r:id="rId13"/>
    <p:sldId id="266" r:id="rId14"/>
    <p:sldId id="268" r:id="rId15"/>
  </p:sldIdLst>
  <p:sldSz cx="12192000" cy="6858000"/>
  <p:notesSz cx="6858000" cy="9144000"/>
  <p:embeddedFontLst>
    <p:embeddedFont>
      <p:font typeface="Calibri" panose="020F0502020204030204" pitchFamily="34" charset="0"/>
      <p:regular r:id="rId17"/>
      <p:bold r:id="rId18"/>
      <p:italic r:id="rId19"/>
      <p:boldItalic r:id="rId20"/>
    </p:embeddedFont>
    <p:embeddedFont>
      <p:font typeface="Lato" panose="020F0502020204030203" pitchFamily="34" charset="0"/>
      <p:regular r:id="rId21"/>
      <p:bold r:id="rId22"/>
      <p:italic r:id="rId23"/>
      <p:boldItalic r:id="rId24"/>
    </p:embeddedFont>
    <p:embeddedFont>
      <p:font typeface="Poppins" panose="00000500000000000000" pitchFamily="2"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796CCCC-D195-4ECD-B664-7D1EE737A1EF}">
  <a:tblStyle styleId="{3796CCCC-D195-4ECD-B664-7D1EE737A1E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242" autoAdjust="0"/>
  </p:normalViewPr>
  <p:slideViewPr>
    <p:cSldViewPr snapToGrid="0">
      <p:cViewPr varScale="1">
        <p:scale>
          <a:sx n="64" d="100"/>
          <a:sy n="64" d="100"/>
        </p:scale>
        <p:origin x="1548"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petim Mehmeti" userId="d3e5878f6d6aec0a" providerId="LiveId" clId="{330E16CE-CAFF-48A6-AA0F-905079FB1E44}"/>
    <pc:docChg chg="undo custSel addSld delSld modSld">
      <pc:chgData name="Shpetim Mehmeti" userId="d3e5878f6d6aec0a" providerId="LiveId" clId="{330E16CE-CAFF-48A6-AA0F-905079FB1E44}" dt="2026-05-13T20:15:26.844" v="490" actId="20577"/>
      <pc:docMkLst>
        <pc:docMk/>
      </pc:docMkLst>
      <pc:sldChg chg="modSp mod modNotesTx">
        <pc:chgData name="Shpetim Mehmeti" userId="d3e5878f6d6aec0a" providerId="LiveId" clId="{330E16CE-CAFF-48A6-AA0F-905079FB1E44}" dt="2026-05-13T20:06:37.049" v="203" actId="20577"/>
        <pc:sldMkLst>
          <pc:docMk/>
          <pc:sldMk cId="0" sldId="258"/>
        </pc:sldMkLst>
        <pc:spChg chg="mod">
          <ac:chgData name="Shpetim Mehmeti" userId="d3e5878f6d6aec0a" providerId="LiveId" clId="{330E16CE-CAFF-48A6-AA0F-905079FB1E44}" dt="2026-05-13T20:01:39.712" v="124" actId="20577"/>
          <ac:spMkLst>
            <pc:docMk/>
            <pc:sldMk cId="0" sldId="258"/>
            <ac:spMk id="114" creationId="{00000000-0000-0000-0000-000000000000}"/>
          </ac:spMkLst>
        </pc:spChg>
        <pc:spChg chg="mod">
          <ac:chgData name="Shpetim Mehmeti" userId="d3e5878f6d6aec0a" providerId="LiveId" clId="{330E16CE-CAFF-48A6-AA0F-905079FB1E44}" dt="2026-05-13T20:01:24.679" v="120" actId="20577"/>
          <ac:spMkLst>
            <pc:docMk/>
            <pc:sldMk cId="0" sldId="258"/>
            <ac:spMk id="115" creationId="{00000000-0000-0000-0000-000000000000}"/>
          </ac:spMkLst>
        </pc:spChg>
        <pc:spChg chg="mod">
          <ac:chgData name="Shpetim Mehmeti" userId="d3e5878f6d6aec0a" providerId="LiveId" clId="{330E16CE-CAFF-48A6-AA0F-905079FB1E44}" dt="2026-05-13T20:02:00.019" v="146" actId="20577"/>
          <ac:spMkLst>
            <pc:docMk/>
            <pc:sldMk cId="0" sldId="258"/>
            <ac:spMk id="120" creationId="{00000000-0000-0000-0000-000000000000}"/>
          </ac:spMkLst>
        </pc:spChg>
      </pc:sldChg>
      <pc:sldChg chg="modSp mod">
        <pc:chgData name="Shpetim Mehmeti" userId="d3e5878f6d6aec0a" providerId="LiveId" clId="{330E16CE-CAFF-48A6-AA0F-905079FB1E44}" dt="2026-05-13T20:10:04.529" v="391" actId="20577"/>
        <pc:sldMkLst>
          <pc:docMk/>
          <pc:sldMk cId="0" sldId="259"/>
        </pc:sldMkLst>
        <pc:graphicFrameChg chg="modGraphic">
          <ac:chgData name="Shpetim Mehmeti" userId="d3e5878f6d6aec0a" providerId="LiveId" clId="{330E16CE-CAFF-48A6-AA0F-905079FB1E44}" dt="2026-05-13T20:10:04.529" v="391" actId="20577"/>
          <ac:graphicFrameMkLst>
            <pc:docMk/>
            <pc:sldMk cId="0" sldId="259"/>
            <ac:graphicFrameMk id="127" creationId="{00000000-0000-0000-0000-000000000000}"/>
          </ac:graphicFrameMkLst>
        </pc:graphicFrameChg>
      </pc:sldChg>
      <pc:sldChg chg="modSp mod modNotesTx">
        <pc:chgData name="Shpetim Mehmeti" userId="d3e5878f6d6aec0a" providerId="LiveId" clId="{330E16CE-CAFF-48A6-AA0F-905079FB1E44}" dt="2026-05-13T20:15:26.844" v="490" actId="20577"/>
        <pc:sldMkLst>
          <pc:docMk/>
          <pc:sldMk cId="0" sldId="261"/>
        </pc:sldMkLst>
        <pc:spChg chg="mod">
          <ac:chgData name="Shpetim Mehmeti" userId="d3e5878f6d6aec0a" providerId="LiveId" clId="{330E16CE-CAFF-48A6-AA0F-905079FB1E44}" dt="2026-05-13T19:52:12.621" v="0" actId="1076"/>
          <ac:spMkLst>
            <pc:docMk/>
            <pc:sldMk cId="0" sldId="261"/>
            <ac:spMk id="166" creationId="{00000000-0000-0000-0000-000000000000}"/>
          </ac:spMkLst>
        </pc:spChg>
        <pc:spChg chg="mod">
          <ac:chgData name="Shpetim Mehmeti" userId="d3e5878f6d6aec0a" providerId="LiveId" clId="{330E16CE-CAFF-48A6-AA0F-905079FB1E44}" dt="2026-05-13T19:52:22.653" v="2" actId="1076"/>
          <ac:spMkLst>
            <pc:docMk/>
            <pc:sldMk cId="0" sldId="261"/>
            <ac:spMk id="167" creationId="{00000000-0000-0000-0000-000000000000}"/>
          </ac:spMkLst>
        </pc:spChg>
        <pc:spChg chg="mod">
          <ac:chgData name="Shpetim Mehmeti" userId="d3e5878f6d6aec0a" providerId="LiveId" clId="{330E16CE-CAFF-48A6-AA0F-905079FB1E44}" dt="2026-05-13T19:52:29.982" v="3" actId="1076"/>
          <ac:spMkLst>
            <pc:docMk/>
            <pc:sldMk cId="0" sldId="261"/>
            <ac:spMk id="168" creationId="{00000000-0000-0000-0000-000000000000}"/>
          </ac:spMkLst>
        </pc:spChg>
        <pc:spChg chg="mod">
          <ac:chgData name="Shpetim Mehmeti" userId="d3e5878f6d6aec0a" providerId="LiveId" clId="{330E16CE-CAFF-48A6-AA0F-905079FB1E44}" dt="2026-05-13T19:52:33.241" v="4" actId="1076"/>
          <ac:spMkLst>
            <pc:docMk/>
            <pc:sldMk cId="0" sldId="261"/>
            <ac:spMk id="169" creationId="{00000000-0000-0000-0000-000000000000}"/>
          </ac:spMkLst>
        </pc:spChg>
        <pc:spChg chg="mod">
          <ac:chgData name="Shpetim Mehmeti" userId="d3e5878f6d6aec0a" providerId="LiveId" clId="{330E16CE-CAFF-48A6-AA0F-905079FB1E44}" dt="2026-05-13T19:52:39.773" v="5" actId="1076"/>
          <ac:spMkLst>
            <pc:docMk/>
            <pc:sldMk cId="0" sldId="261"/>
            <ac:spMk id="170" creationId="{00000000-0000-0000-0000-000000000000}"/>
          </ac:spMkLst>
        </pc:spChg>
        <pc:picChg chg="mod">
          <ac:chgData name="Shpetim Mehmeti" userId="d3e5878f6d6aec0a" providerId="LiveId" clId="{330E16CE-CAFF-48A6-AA0F-905079FB1E44}" dt="2026-05-13T19:52:42.555" v="7" actId="1036"/>
          <ac:picMkLst>
            <pc:docMk/>
            <pc:sldMk cId="0" sldId="261"/>
            <ac:picMk id="165" creationId="{00000000-0000-0000-0000-000000000000}"/>
          </ac:picMkLst>
        </pc:picChg>
      </pc:sldChg>
      <pc:sldChg chg="modSp mod">
        <pc:chgData name="Shpetim Mehmeti" userId="d3e5878f6d6aec0a" providerId="LiveId" clId="{330E16CE-CAFF-48A6-AA0F-905079FB1E44}" dt="2026-05-13T20:12:37.138" v="461" actId="20577"/>
        <pc:sldMkLst>
          <pc:docMk/>
          <pc:sldMk cId="0" sldId="266"/>
        </pc:sldMkLst>
        <pc:spChg chg="mod">
          <ac:chgData name="Shpetim Mehmeti" userId="d3e5878f6d6aec0a" providerId="LiveId" clId="{330E16CE-CAFF-48A6-AA0F-905079FB1E44}" dt="2026-05-13T20:12:37.138" v="461" actId="20577"/>
          <ac:spMkLst>
            <pc:docMk/>
            <pc:sldMk cId="0" sldId="266"/>
            <ac:spMk id="243" creationId="{00000000-0000-0000-0000-000000000000}"/>
          </ac:spMkLst>
        </pc:spChg>
      </pc:sldChg>
      <pc:sldChg chg="addSp modSp del modNotes">
        <pc:chgData name="Shpetim Mehmeti" userId="d3e5878f6d6aec0a" providerId="LiveId" clId="{330E16CE-CAFF-48A6-AA0F-905079FB1E44}" dt="2026-05-13T19:59:24.524" v="50" actId="47"/>
        <pc:sldMkLst>
          <pc:docMk/>
          <pc:sldMk cId="0" sldId="267"/>
        </pc:sldMkLst>
        <pc:spChg chg="add mod">
          <ac:chgData name="Shpetim Mehmeti" userId="d3e5878f6d6aec0a" providerId="LiveId" clId="{330E16CE-CAFF-48A6-AA0F-905079FB1E44}" dt="2026-05-13T19:53:06.914" v="9"/>
          <ac:spMkLst>
            <pc:docMk/>
            <pc:sldMk cId="0" sldId="267"/>
            <ac:spMk id="2" creationId="{564753ED-FA0A-4F95-78ED-5C1C6A111929}"/>
          </ac:spMkLst>
        </pc:spChg>
      </pc:sldChg>
      <pc:sldChg chg="modSp add mod">
        <pc:chgData name="Shpetim Mehmeti" userId="d3e5878f6d6aec0a" providerId="LiveId" clId="{330E16CE-CAFF-48A6-AA0F-905079FB1E44}" dt="2026-05-13T19:56:06.563" v="49" actId="20577"/>
        <pc:sldMkLst>
          <pc:docMk/>
          <pc:sldMk cId="4201822962" sldId="268"/>
        </pc:sldMkLst>
        <pc:spChg chg="mod">
          <ac:chgData name="Shpetim Mehmeti" userId="d3e5878f6d6aec0a" providerId="LiveId" clId="{330E16CE-CAFF-48A6-AA0F-905079FB1E44}" dt="2026-05-13T19:56:06.563" v="49" actId="20577"/>
          <ac:spMkLst>
            <pc:docMk/>
            <pc:sldMk cId="4201822962" sldId="268"/>
            <ac:spMk id="243" creationId="{EE6819AF-BC69-B2BA-4562-FDC9F65A8F0D}"/>
          </ac:spMkLst>
        </pc:spChg>
        <pc:spChg chg="mod">
          <ac:chgData name="Shpetim Mehmeti" userId="d3e5878f6d6aec0a" providerId="LiveId" clId="{330E16CE-CAFF-48A6-AA0F-905079FB1E44}" dt="2026-05-13T19:53:56.877" v="44" actId="20577"/>
          <ac:spMkLst>
            <pc:docMk/>
            <pc:sldMk cId="4201822962" sldId="268"/>
            <ac:spMk id="244" creationId="{EB5271D5-DAFB-728A-78A0-9D421DD949B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dirty="0" err="1"/>
              <a:t>Niher</a:t>
            </a:r>
            <a:r>
              <a:rPr lang="en-US" dirty="0"/>
              <a:t> slide</a:t>
            </a:r>
            <a:br>
              <a:rPr lang="en-US" dirty="0"/>
            </a:br>
            <a:r>
              <a:rPr lang="en-US" dirty="0"/>
              <a:t>TRAIL LOGS answer governance questions: Was this security group changed before the breach? Which engineer deleted the production database? and so on.</a:t>
            </a:r>
            <a:endParaRPr dirty="0"/>
          </a:p>
          <a:p>
            <a:pPr marL="0" lvl="0" indent="0" algn="just" rtl="0">
              <a:lnSpc>
                <a:spcPct val="115000"/>
              </a:lnSpc>
              <a:spcBef>
                <a:spcPts val="700"/>
              </a:spcBef>
              <a:spcAft>
                <a:spcPts val="0"/>
              </a:spcAft>
              <a:buClr>
                <a:schemeClr val="dk1"/>
              </a:buClr>
              <a:buSzPts val="1100"/>
              <a:buFont typeface="Arial"/>
              <a:buNone/>
            </a:pPr>
            <a:r>
              <a:rPr lang="en-US" dirty="0"/>
              <a:t>DUMP LOGS answer operational questions, for example: Why is this API endpoint returning 500 errors? or What was the SQL query that caused the database lock?  </a:t>
            </a:r>
            <a:endParaRPr dirty="0"/>
          </a:p>
          <a:p>
            <a:pPr marL="0" lvl="0" indent="0" algn="l" rtl="0">
              <a:spcBef>
                <a:spcPts val="700"/>
              </a:spcBef>
              <a:spcAft>
                <a:spcPts val="0"/>
              </a:spcAft>
              <a:buNone/>
            </a:pPr>
            <a:endParaRPr lang="en-US" dirty="0"/>
          </a:p>
          <a:p>
            <a:pPr marL="158750" indent="0">
              <a:buNone/>
            </a:pPr>
            <a:endParaRPr lang="en-US" dirty="0"/>
          </a:p>
          <a:p>
            <a:endParaRPr lang="en-US" dirty="0"/>
          </a:p>
          <a:p>
            <a:endParaRPr lang="en-US" dirty="0"/>
          </a:p>
          <a:p>
            <a:endParaRPr lang="en-US" dirty="0"/>
          </a:p>
          <a:p>
            <a:pPr marL="0" lvl="0" indent="0" algn="l" rtl="0">
              <a:spcBef>
                <a:spcPts val="700"/>
              </a:spcBef>
              <a:spcAft>
                <a:spcPts val="0"/>
              </a:spcAft>
              <a:buNone/>
            </a:pPr>
            <a:endParaRPr dirty="0"/>
          </a:p>
        </p:txBody>
      </p:sp>
      <p:sp>
        <p:nvSpPr>
          <p:cNvPr id="109" name="Google Shape;10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700"/>
              </a:spcBef>
              <a:spcAft>
                <a:spcPts val="0"/>
              </a:spcAft>
              <a:buNone/>
            </a:pPr>
            <a:endParaRPr dirty="0"/>
          </a:p>
        </p:txBody>
      </p:sp>
      <p:sp>
        <p:nvSpPr>
          <p:cNvPr id="109" name="Google Shape;10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6036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US"/>
              <a:t>Niher notes</a:t>
            </a:r>
            <a:endParaRPr/>
          </a:p>
          <a:p>
            <a:pPr marL="0" lvl="0" indent="0" algn="just" rtl="0">
              <a:lnSpc>
                <a:spcPct val="115000"/>
              </a:lnSpc>
              <a:spcBef>
                <a:spcPts val="700"/>
              </a:spcBef>
              <a:spcAft>
                <a:spcPts val="0"/>
              </a:spcAft>
              <a:buNone/>
            </a:pPr>
            <a:r>
              <a:rPr lang="en-US"/>
              <a:t>The most common log management failure is the absence of structure. Teams enable every log source available, ship everything to one undifferentiated destination, and end up with an expensive stack from which they cannot extract concrete findings.</a:t>
            </a:r>
            <a:endParaRPr/>
          </a:p>
          <a:p>
            <a:pPr marL="0" lvl="0" indent="0" algn="just" rtl="0">
              <a:lnSpc>
                <a:spcPct val="115000"/>
              </a:lnSpc>
              <a:spcBef>
                <a:spcPts val="700"/>
              </a:spcBef>
              <a:spcAft>
                <a:spcPts val="0"/>
              </a:spcAft>
              <a:buNone/>
            </a:pPr>
            <a:r>
              <a:rPr lang="en-US"/>
              <a:t>A practical organizational model divides logs into three tiers based on their sensitivity, query frequency, and retention needs such as^^^^^^</a:t>
            </a:r>
            <a:endParaRPr/>
          </a:p>
          <a:p>
            <a:pPr marL="0" lvl="0" indent="0" algn="just" rtl="0">
              <a:lnSpc>
                <a:spcPct val="115000"/>
              </a:lnSpc>
              <a:spcBef>
                <a:spcPts val="700"/>
              </a:spcBef>
              <a:spcAft>
                <a:spcPts val="0"/>
              </a:spcAft>
              <a:buNone/>
            </a:pPr>
            <a:endParaRPr/>
          </a:p>
          <a:p>
            <a:pPr marL="0" lvl="0" indent="0" algn="just" rtl="0">
              <a:lnSpc>
                <a:spcPct val="115000"/>
              </a:lnSpc>
              <a:spcBef>
                <a:spcPts val="700"/>
              </a:spcBef>
              <a:spcAft>
                <a:spcPts val="0"/>
              </a:spcAft>
              <a:buNone/>
            </a:pPr>
            <a:endParaRPr/>
          </a:p>
          <a:p>
            <a:pPr marL="0" lvl="0" indent="0" algn="just" rtl="0">
              <a:lnSpc>
                <a:spcPct val="115000"/>
              </a:lnSpc>
              <a:spcBef>
                <a:spcPts val="700"/>
              </a:spcBef>
              <a:spcAft>
                <a:spcPts val="0"/>
              </a:spcAft>
              <a:buClr>
                <a:schemeClr val="dk1"/>
              </a:buClr>
              <a:buSzPts val="1100"/>
              <a:buFont typeface="Arial"/>
              <a:buNone/>
            </a:pPr>
            <a:endParaRPr/>
          </a:p>
          <a:p>
            <a:pPr marL="0" lvl="0" indent="0" algn="l" rtl="0">
              <a:spcBef>
                <a:spcPts val="700"/>
              </a:spcBef>
              <a:spcAft>
                <a:spcPts val="0"/>
              </a:spcAft>
              <a:buNone/>
            </a:pPr>
            <a:endParaRPr/>
          </a:p>
        </p:txBody>
      </p:sp>
      <p:sp>
        <p:nvSpPr>
          <p:cNvPr id="144" name="Google Shape;14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US"/>
              <a:t>Niher notes</a:t>
            </a:r>
            <a:endParaRPr/>
          </a:p>
          <a:p>
            <a:pPr marL="0" lvl="0" indent="0" algn="just" rtl="0">
              <a:lnSpc>
                <a:spcPct val="115000"/>
              </a:lnSpc>
              <a:spcBef>
                <a:spcPts val="700"/>
              </a:spcBef>
              <a:spcAft>
                <a:spcPts val="0"/>
              </a:spcAft>
              <a:buNone/>
            </a:pPr>
            <a:r>
              <a:rPr lang="en-US"/>
              <a:t>The most common log management failure is the absence of structure. Teams enable every log source available, ship everything to one undifferentiated destination, and end up with an expensive stack from which they cannot extract concrete findings.</a:t>
            </a:r>
            <a:endParaRPr/>
          </a:p>
          <a:p>
            <a:pPr marL="0" lvl="0" indent="0" algn="just" rtl="0">
              <a:lnSpc>
                <a:spcPct val="115000"/>
              </a:lnSpc>
              <a:spcBef>
                <a:spcPts val="700"/>
              </a:spcBef>
              <a:spcAft>
                <a:spcPts val="0"/>
              </a:spcAft>
              <a:buNone/>
            </a:pPr>
            <a:r>
              <a:rPr lang="en-US"/>
              <a:t>A practical organizational model divides logs into three tiers based on their sensitivity, query frequency, and retention needs such as^^^^^^</a:t>
            </a:r>
            <a:endParaRPr/>
          </a:p>
          <a:p>
            <a:pPr marL="0" lvl="0" indent="0" algn="just" rtl="0">
              <a:lnSpc>
                <a:spcPct val="115000"/>
              </a:lnSpc>
              <a:spcBef>
                <a:spcPts val="700"/>
              </a:spcBef>
              <a:spcAft>
                <a:spcPts val="0"/>
              </a:spcAft>
              <a:buNone/>
            </a:pPr>
            <a:endParaRPr/>
          </a:p>
          <a:p>
            <a:pPr marL="0" lvl="0" indent="0" algn="just" rtl="0">
              <a:lnSpc>
                <a:spcPct val="115000"/>
              </a:lnSpc>
              <a:spcBef>
                <a:spcPts val="700"/>
              </a:spcBef>
              <a:spcAft>
                <a:spcPts val="0"/>
              </a:spcAft>
              <a:buNone/>
            </a:pPr>
            <a:endParaRPr/>
          </a:p>
          <a:p>
            <a:pPr marL="0" lvl="0" indent="0" algn="just" rtl="0">
              <a:lnSpc>
                <a:spcPct val="115000"/>
              </a:lnSpc>
              <a:spcBef>
                <a:spcPts val="700"/>
              </a:spcBef>
              <a:spcAft>
                <a:spcPts val="0"/>
              </a:spcAft>
              <a:buClr>
                <a:schemeClr val="dk1"/>
              </a:buClr>
              <a:buSzPts val="1100"/>
              <a:buFont typeface="Arial"/>
              <a:buNone/>
            </a:pPr>
            <a:endParaRPr/>
          </a:p>
          <a:p>
            <a:pPr marL="0" lvl="0" indent="0" algn="l" rtl="0">
              <a:spcBef>
                <a:spcPts val="700"/>
              </a:spcBef>
              <a:spcAft>
                <a:spcPts val="0"/>
              </a:spcAft>
              <a:buNone/>
            </a:pPr>
            <a:endParaRPr/>
          </a:p>
        </p:txBody>
      </p:sp>
      <p:sp>
        <p:nvSpPr>
          <p:cNvPr id="144" name="Google Shape;14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329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a:t>PROBLEM/NEED</a:t>
            </a:r>
            <a:br>
              <a:rPr lang="en-US" dirty="0"/>
            </a:br>
            <a:r>
              <a:rPr lang="en-US" dirty="0"/>
              <a:t>CloudWatch Logs, if retention is never configured, stores logs indefinitely and charges for every GB stored. A single high-traffic Lambda function can generate hundreds of GB per month. Teams frequently discover high monthly bills caused exclusively by forgotten debug log groups that have been accumulating for years.</a:t>
            </a:r>
            <a:endParaRPr dirty="0"/>
          </a:p>
          <a:p>
            <a:pPr marL="0" lvl="0" indent="0" algn="l" rtl="0">
              <a:spcBef>
                <a:spcPts val="700"/>
              </a:spcBef>
              <a:spcAft>
                <a:spcPts val="0"/>
              </a:spcAft>
              <a:buNone/>
            </a:pPr>
            <a:endParaRPr dirty="0"/>
          </a:p>
        </p:txBody>
      </p:sp>
      <p:sp>
        <p:nvSpPr>
          <p:cNvPr id="163" name="Google Shape;16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US"/>
              <a:t>Niher slide </a:t>
            </a:r>
            <a:endParaRPr/>
          </a:p>
          <a:p>
            <a:pPr marL="0" lvl="0" indent="0" algn="just" rtl="0">
              <a:lnSpc>
                <a:spcPct val="115000"/>
              </a:lnSpc>
              <a:spcBef>
                <a:spcPts val="700"/>
              </a:spcBef>
              <a:spcAft>
                <a:spcPts val="0"/>
              </a:spcAft>
              <a:buClr>
                <a:schemeClr val="dk1"/>
              </a:buClr>
              <a:buSzPts val="1100"/>
              <a:buFont typeface="Arial"/>
              <a:buNone/>
            </a:pPr>
            <a:r>
              <a:rPr lang="en-US"/>
              <a:t>mas “Monitoring is the active process of extracting signal from log data…” —&gt;such as detecting anomalies, triggering alerts, and surfacing patterns before they become incidents. In practice, most organizations store logs well but monitor them poorly.</a:t>
            </a:r>
            <a:endParaRPr/>
          </a:p>
          <a:p>
            <a:pPr marL="0" lvl="0" indent="0" algn="l" rtl="0">
              <a:spcBef>
                <a:spcPts val="700"/>
              </a:spcBef>
              <a:spcAft>
                <a:spcPts val="0"/>
              </a:spcAft>
              <a:buNone/>
            </a:pPr>
            <a:endParaRPr/>
          </a:p>
        </p:txBody>
      </p:sp>
      <p:sp>
        <p:nvSpPr>
          <p:cNvPr id="195" name="Google Shape;195;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US"/>
              <a:t>Niher notes</a:t>
            </a:r>
            <a:endParaRPr/>
          </a:p>
          <a:p>
            <a:pPr marL="0" lvl="0" indent="0" algn="just" rtl="0">
              <a:lnSpc>
                <a:spcPct val="115000"/>
              </a:lnSpc>
              <a:spcBef>
                <a:spcPts val="700"/>
              </a:spcBef>
              <a:spcAft>
                <a:spcPts val="0"/>
              </a:spcAft>
              <a:buClr>
                <a:schemeClr val="dk1"/>
              </a:buClr>
              <a:buSzPts val="1100"/>
              <a:buFont typeface="Arial"/>
              <a:buNone/>
            </a:pPr>
            <a:r>
              <a:rPr lang="en-US"/>
              <a:t>CloudWatch Metric Filters extract numeric signals from log text and publish them as custom CloudWatch metrics. This bridge between raw logs and the CloudWatch alarm system is one of the most underutilized features in AWS, and can help figure out what’s not working properly much faster.</a:t>
            </a:r>
            <a:endParaRPr/>
          </a:p>
          <a:p>
            <a:pPr marL="0" lvl="0" indent="0" algn="l" rtl="0">
              <a:spcBef>
                <a:spcPts val="700"/>
              </a:spcBef>
              <a:spcAft>
                <a:spcPts val="0"/>
              </a:spcAft>
              <a:buNone/>
            </a:pPr>
            <a:endParaRPr/>
          </a:p>
        </p:txBody>
      </p:sp>
      <p:sp>
        <p:nvSpPr>
          <p:cNvPr id="206" name="Google Shape;206;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e1a3f20680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latin typeface="Poppins"/>
              <a:ea typeface="Poppins"/>
              <a:cs typeface="Poppins"/>
              <a:sym typeface="Poppins"/>
            </a:endParaRPr>
          </a:p>
          <a:p>
            <a:pPr marL="0" lvl="0" indent="0" algn="l" rtl="0">
              <a:spcBef>
                <a:spcPts val="0"/>
              </a:spcBef>
              <a:spcAft>
                <a:spcPts val="0"/>
              </a:spcAft>
              <a:buNone/>
            </a:pPr>
            <a:endParaRPr sz="1400">
              <a:solidFill>
                <a:schemeClr val="dk1"/>
              </a:solidFill>
              <a:latin typeface="Poppins"/>
              <a:ea typeface="Poppins"/>
              <a:cs typeface="Poppins"/>
              <a:sym typeface="Poppins"/>
            </a:endParaRPr>
          </a:p>
          <a:p>
            <a:pPr marL="0" lvl="0" indent="0" algn="l" rtl="0">
              <a:spcBef>
                <a:spcPts val="0"/>
              </a:spcBef>
              <a:spcAft>
                <a:spcPts val="0"/>
              </a:spcAft>
              <a:buNone/>
            </a:pPr>
            <a:endParaRPr/>
          </a:p>
        </p:txBody>
      </p:sp>
      <p:sp>
        <p:nvSpPr>
          <p:cNvPr id="240" name="Google Shape;240;g3e1a3f20680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a:extLst>
            <a:ext uri="{FF2B5EF4-FFF2-40B4-BE49-F238E27FC236}">
              <a16:creationId xmlns:a16="http://schemas.microsoft.com/office/drawing/2014/main" id="{282AF4EF-A986-3282-496F-216A9EF1E1BE}"/>
            </a:ext>
          </a:extLst>
        </p:cNvPr>
        <p:cNvGrpSpPr/>
        <p:nvPr/>
      </p:nvGrpSpPr>
      <p:grpSpPr>
        <a:xfrm>
          <a:off x="0" y="0"/>
          <a:ext cx="0" cy="0"/>
          <a:chOff x="0" y="0"/>
          <a:chExt cx="0" cy="0"/>
        </a:xfrm>
      </p:grpSpPr>
      <p:sp>
        <p:nvSpPr>
          <p:cNvPr id="239" name="Google Shape;239;g3e1a3f20680_0_11:notes">
            <a:extLst>
              <a:ext uri="{FF2B5EF4-FFF2-40B4-BE49-F238E27FC236}">
                <a16:creationId xmlns:a16="http://schemas.microsoft.com/office/drawing/2014/main" id="{8A83AD7C-415C-5CEA-D6C6-043E6CD0B6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latin typeface="Poppins"/>
              <a:ea typeface="Poppins"/>
              <a:cs typeface="Poppins"/>
              <a:sym typeface="Poppins"/>
            </a:endParaRPr>
          </a:p>
          <a:p>
            <a:pPr marL="0" lvl="0" indent="0" algn="l" rtl="0">
              <a:spcBef>
                <a:spcPts val="0"/>
              </a:spcBef>
              <a:spcAft>
                <a:spcPts val="0"/>
              </a:spcAft>
              <a:buNone/>
            </a:pPr>
            <a:endParaRPr sz="1400">
              <a:solidFill>
                <a:schemeClr val="dk1"/>
              </a:solidFill>
              <a:latin typeface="Poppins"/>
              <a:ea typeface="Poppins"/>
              <a:cs typeface="Poppins"/>
              <a:sym typeface="Poppins"/>
            </a:endParaRPr>
          </a:p>
          <a:p>
            <a:pPr marL="0" lvl="0" indent="0" algn="l" rtl="0">
              <a:spcBef>
                <a:spcPts val="0"/>
              </a:spcBef>
              <a:spcAft>
                <a:spcPts val="0"/>
              </a:spcAft>
              <a:buNone/>
            </a:pPr>
            <a:endParaRPr/>
          </a:p>
        </p:txBody>
      </p:sp>
      <p:sp>
        <p:nvSpPr>
          <p:cNvPr id="240" name="Google Shape;240;g3e1a3f20680_0_11:notes">
            <a:extLst>
              <a:ext uri="{FF2B5EF4-FFF2-40B4-BE49-F238E27FC236}">
                <a16:creationId xmlns:a16="http://schemas.microsoft.com/office/drawing/2014/main" id="{1787967F-0DA4-13E3-E238-767191BE3F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7953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docs.aws.amazon.com/awscloudtrail/latest/userguide/cloudtrail-user-guide.html" TargetMode="External"/><Relationship Id="rId5" Type="http://schemas.openxmlformats.org/officeDocument/2006/relationships/hyperlink" Target="https://registry.terraform.io/providers/hashicorp/aws/latest/docs/resources/cloudwatch_log_group" TargetMode="External"/><Relationship Id="rId4" Type="http://schemas.openxmlformats.org/officeDocument/2006/relationships/hyperlink" Target="https://aws.amazon.com/cloudwatch/pric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71500" y="571500"/>
            <a:ext cx="11049000" cy="5715000"/>
          </a:xfrm>
          <a:prstGeom prst="rect">
            <a:avLst/>
          </a:prstGeom>
          <a:noFill/>
          <a:ln>
            <a:noFill/>
          </a:ln>
        </p:spPr>
      </p:pic>
      <p:sp>
        <p:nvSpPr>
          <p:cNvPr id="86" name="Google Shape;86;p13"/>
          <p:cNvSpPr txBox="1"/>
          <p:nvPr/>
        </p:nvSpPr>
        <p:spPr>
          <a:xfrm>
            <a:off x="4281487" y="2302222"/>
            <a:ext cx="3629025" cy="31998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b="1" i="0" u="none" strike="noStrike" cap="none">
                <a:solidFill>
                  <a:srgbClr val="FF9900"/>
                </a:solidFill>
                <a:latin typeface="Lato"/>
                <a:ea typeface="Lato"/>
                <a:cs typeface="Lato"/>
                <a:sym typeface="Lato"/>
              </a:rPr>
              <a:t>TECHNICAL RESEARCH BRIEF</a:t>
            </a:r>
            <a:endParaRPr/>
          </a:p>
        </p:txBody>
      </p:sp>
      <p:sp>
        <p:nvSpPr>
          <p:cNvPr id="87" name="Google Shape;87;p13"/>
          <p:cNvSpPr txBox="1"/>
          <p:nvPr/>
        </p:nvSpPr>
        <p:spPr>
          <a:xfrm>
            <a:off x="2385536" y="2622202"/>
            <a:ext cx="7420800" cy="6927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500" b="1" i="0" u="none" strike="noStrike" cap="none">
                <a:solidFill>
                  <a:srgbClr val="232F3E"/>
                </a:solidFill>
                <a:latin typeface="Poppins"/>
                <a:ea typeface="Poppins"/>
                <a:cs typeface="Poppins"/>
                <a:sym typeface="Poppins"/>
              </a:rPr>
              <a:t>Cloud Log Management</a:t>
            </a:r>
            <a:endParaRPr/>
          </a:p>
        </p:txBody>
      </p:sp>
      <p:sp>
        <p:nvSpPr>
          <p:cNvPr id="88" name="Google Shape;88;p13"/>
          <p:cNvSpPr txBox="1"/>
          <p:nvPr/>
        </p:nvSpPr>
        <p:spPr>
          <a:xfrm>
            <a:off x="3473534" y="3536601"/>
            <a:ext cx="5244900" cy="23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Strategy, Architecture, and AWS Implementation</a:t>
            </a:r>
            <a:endParaRPr/>
          </a:p>
        </p:txBody>
      </p:sp>
      <p:sp>
        <p:nvSpPr>
          <p:cNvPr id="89" name="Google Shape;89;p13"/>
          <p:cNvSpPr txBox="1"/>
          <p:nvPr/>
        </p:nvSpPr>
        <p:spPr>
          <a:xfrm>
            <a:off x="5265288" y="4241626"/>
            <a:ext cx="1661400" cy="18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888888"/>
                </a:solidFill>
                <a:latin typeface="Lato"/>
                <a:ea typeface="Lato"/>
                <a:cs typeface="Lato"/>
                <a:sym typeface="Lato"/>
              </a:rPr>
              <a:t>May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3"/>
        <p:cNvGrpSpPr/>
        <p:nvPr/>
      </p:nvGrpSpPr>
      <p:grpSpPr>
        <a:xfrm>
          <a:off x="0" y="0"/>
          <a:ext cx="0" cy="0"/>
          <a:chOff x="0" y="0"/>
          <a:chExt cx="0" cy="0"/>
        </a:xfrm>
      </p:grpSpPr>
      <p:pic>
        <p:nvPicPr>
          <p:cNvPr id="94" name="Google Shape;94;p14" descr="image.png"/>
          <p:cNvPicPr preferRelativeResize="0"/>
          <p:nvPr/>
        </p:nvPicPr>
        <p:blipFill rotWithShape="1">
          <a:blip r:embed="rId3">
            <a:alphaModFix/>
          </a:blip>
          <a:srcRect/>
          <a:stretch/>
        </p:blipFill>
        <p:spPr>
          <a:xfrm>
            <a:off x="13214" y="0"/>
            <a:ext cx="12192000" cy="6858000"/>
          </a:xfrm>
          <a:prstGeom prst="rect">
            <a:avLst/>
          </a:prstGeom>
          <a:noFill/>
          <a:ln>
            <a:noFill/>
          </a:ln>
        </p:spPr>
      </p:pic>
      <p:pic>
        <p:nvPicPr>
          <p:cNvPr id="95" name="Google Shape;95;p14" descr="image.png"/>
          <p:cNvPicPr preferRelativeResize="0"/>
          <p:nvPr/>
        </p:nvPicPr>
        <p:blipFill rotWithShape="1">
          <a:blip r:embed="rId4">
            <a:alphaModFix/>
          </a:blip>
          <a:srcRect/>
          <a:stretch/>
        </p:blipFill>
        <p:spPr>
          <a:xfrm>
            <a:off x="6286500" y="1985962"/>
            <a:ext cx="5334000" cy="3810000"/>
          </a:xfrm>
          <a:prstGeom prst="rect">
            <a:avLst/>
          </a:prstGeom>
          <a:noFill/>
          <a:ln>
            <a:noFill/>
          </a:ln>
        </p:spPr>
      </p:pic>
      <p:sp>
        <p:nvSpPr>
          <p:cNvPr id="96" name="Google Shape;96;p14"/>
          <p:cNvSpPr txBox="1"/>
          <p:nvPr/>
        </p:nvSpPr>
        <p:spPr>
          <a:xfrm>
            <a:off x="571500" y="2867025"/>
            <a:ext cx="53340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Modern cloud systems generate enormous volumes of data every second. Without a strategy, organizations are </a:t>
            </a:r>
            <a:r>
              <a:rPr lang="en-US" sz="1500" b="1" i="0" u="none" strike="noStrike" cap="none">
                <a:solidFill>
                  <a:srgbClr val="444444"/>
                </a:solidFill>
                <a:latin typeface="Lato"/>
                <a:ea typeface="Lato"/>
                <a:cs typeface="Lato"/>
                <a:sym typeface="Lato"/>
              </a:rPr>
              <a:t>flying blind</a:t>
            </a:r>
            <a:r>
              <a:rPr lang="en-US" sz="1500" b="0" i="0" u="none" strike="noStrike" cap="none">
                <a:solidFill>
                  <a:srgbClr val="444444"/>
                </a:solidFill>
                <a:latin typeface="Lato"/>
                <a:ea typeface="Lato"/>
                <a:cs typeface="Lato"/>
                <a:sym typeface="Lato"/>
              </a:rPr>
              <a:t>.</a:t>
            </a:r>
            <a:endParaRPr/>
          </a:p>
        </p:txBody>
      </p:sp>
      <p:sp>
        <p:nvSpPr>
          <p:cNvPr id="97" name="Google Shape;97;p14"/>
          <p:cNvSpPr txBox="1"/>
          <p:nvPr/>
        </p:nvSpPr>
        <p:spPr>
          <a:xfrm>
            <a:off x="571500" y="3543300"/>
            <a:ext cx="5334000" cy="2310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This </a:t>
            </a:r>
            <a:r>
              <a:rPr lang="en-US" sz="1500">
                <a:solidFill>
                  <a:srgbClr val="444444"/>
                </a:solidFill>
                <a:latin typeface="Lato"/>
                <a:ea typeface="Lato"/>
                <a:cs typeface="Lato"/>
                <a:sym typeface="Lato"/>
              </a:rPr>
              <a:t>brief presentation </a:t>
            </a:r>
            <a:r>
              <a:rPr lang="en-US" sz="1500" b="0" i="0" u="none" strike="noStrike" cap="none">
                <a:solidFill>
                  <a:srgbClr val="444444"/>
                </a:solidFill>
                <a:latin typeface="Lato"/>
                <a:ea typeface="Lato"/>
                <a:cs typeface="Lato"/>
                <a:sym typeface="Lato"/>
              </a:rPr>
              <a:t> covers practical observability:</a:t>
            </a:r>
            <a:endParaRPr/>
          </a:p>
        </p:txBody>
      </p:sp>
      <p:pic>
        <p:nvPicPr>
          <p:cNvPr id="98" name="Google Shape;98;p14" descr="image.png"/>
          <p:cNvPicPr preferRelativeResize="0"/>
          <p:nvPr/>
        </p:nvPicPr>
        <p:blipFill rotWithShape="1">
          <a:blip r:embed="rId5">
            <a:alphaModFix/>
          </a:blip>
          <a:srcRect/>
          <a:stretch/>
        </p:blipFill>
        <p:spPr>
          <a:xfrm>
            <a:off x="6693396" y="2176462"/>
            <a:ext cx="4520058" cy="3428851"/>
          </a:xfrm>
          <a:prstGeom prst="rect">
            <a:avLst/>
          </a:prstGeom>
          <a:noFill/>
          <a:ln>
            <a:noFill/>
          </a:ln>
        </p:spPr>
      </p:pic>
      <p:sp>
        <p:nvSpPr>
          <p:cNvPr id="99" name="Google Shape;99;p14"/>
          <p:cNvSpPr txBox="1"/>
          <p:nvPr/>
        </p:nvSpPr>
        <p:spPr>
          <a:xfrm>
            <a:off x="838200" y="3962400"/>
            <a:ext cx="1143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a:t>
            </a:r>
            <a:endParaRPr/>
          </a:p>
        </p:txBody>
      </p:sp>
      <p:sp>
        <p:nvSpPr>
          <p:cNvPr id="100" name="Google Shape;100;p14"/>
          <p:cNvSpPr txBox="1"/>
          <p:nvPr/>
        </p:nvSpPr>
        <p:spPr>
          <a:xfrm>
            <a:off x="952500" y="3962400"/>
            <a:ext cx="4953000" cy="266700"/>
          </a:xfrm>
          <a:prstGeom prst="rect">
            <a:avLst/>
          </a:prstGeom>
          <a:noFill/>
          <a:ln>
            <a:noFill/>
          </a:ln>
        </p:spPr>
        <p:txBody>
          <a:bodyPr spcFirstLastPara="1" wrap="square" lIns="1143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Why logs fail in production</a:t>
            </a:r>
            <a:endParaRPr/>
          </a:p>
        </p:txBody>
      </p:sp>
      <p:sp>
        <p:nvSpPr>
          <p:cNvPr id="101" name="Google Shape;101;p14"/>
          <p:cNvSpPr txBox="1"/>
          <p:nvPr/>
        </p:nvSpPr>
        <p:spPr>
          <a:xfrm>
            <a:off x="838200" y="4229100"/>
            <a:ext cx="1143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a:t>
            </a:r>
            <a:endParaRPr/>
          </a:p>
        </p:txBody>
      </p:sp>
      <p:sp>
        <p:nvSpPr>
          <p:cNvPr id="102" name="Google Shape;102;p14"/>
          <p:cNvSpPr txBox="1"/>
          <p:nvPr/>
        </p:nvSpPr>
        <p:spPr>
          <a:xfrm>
            <a:off x="952500" y="4229100"/>
            <a:ext cx="4953000" cy="266700"/>
          </a:xfrm>
          <a:prstGeom prst="rect">
            <a:avLst/>
          </a:prstGeom>
          <a:noFill/>
          <a:ln>
            <a:noFill/>
          </a:ln>
        </p:spPr>
        <p:txBody>
          <a:bodyPr spcFirstLastPara="1" wrap="square" lIns="1143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Structuring for rapid analysis</a:t>
            </a:r>
            <a:endParaRPr/>
          </a:p>
        </p:txBody>
      </p:sp>
      <p:sp>
        <p:nvSpPr>
          <p:cNvPr id="103" name="Google Shape;103;p14"/>
          <p:cNvSpPr txBox="1"/>
          <p:nvPr/>
        </p:nvSpPr>
        <p:spPr>
          <a:xfrm>
            <a:off x="838200" y="4495800"/>
            <a:ext cx="1143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a:t>
            </a:r>
            <a:endParaRPr/>
          </a:p>
        </p:txBody>
      </p:sp>
      <p:sp>
        <p:nvSpPr>
          <p:cNvPr id="104" name="Google Shape;104;p14"/>
          <p:cNvSpPr txBox="1"/>
          <p:nvPr/>
        </p:nvSpPr>
        <p:spPr>
          <a:xfrm>
            <a:off x="952500" y="4495800"/>
            <a:ext cx="4953000" cy="266700"/>
          </a:xfrm>
          <a:prstGeom prst="rect">
            <a:avLst/>
          </a:prstGeom>
          <a:noFill/>
          <a:ln>
            <a:noFill/>
          </a:ln>
        </p:spPr>
        <p:txBody>
          <a:bodyPr spcFirstLastPara="1" wrap="square" lIns="11430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AWS cost-controlled strategies</a:t>
            </a:r>
            <a:endParaRPr/>
          </a:p>
        </p:txBody>
      </p:sp>
      <p:sp>
        <p:nvSpPr>
          <p:cNvPr id="105" name="Google Shape;105;p14"/>
          <p:cNvSpPr txBox="1"/>
          <p:nvPr/>
        </p:nvSpPr>
        <p:spPr>
          <a:xfrm>
            <a:off x="762000" y="571500"/>
            <a:ext cx="1140142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232F3E"/>
                </a:solidFill>
                <a:latin typeface="Poppins"/>
                <a:ea typeface="Poppins"/>
                <a:cs typeface="Poppins"/>
                <a:sym typeface="Poppins"/>
              </a:rPr>
              <a:t>Introduction: The Visibility Gap</a:t>
            </a:r>
            <a:endParaRPr/>
          </a:p>
        </p:txBody>
      </p:sp>
      <p:sp>
        <p:nvSpPr>
          <p:cNvPr id="106" name="Google Shape;106;p14"/>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0"/>
        <p:cNvGrpSpPr/>
        <p:nvPr/>
      </p:nvGrpSpPr>
      <p:grpSpPr>
        <a:xfrm>
          <a:off x="0" y="0"/>
          <a:ext cx="0" cy="0"/>
          <a:chOff x="0" y="0"/>
          <a:chExt cx="0" cy="0"/>
        </a:xfrm>
      </p:grpSpPr>
      <p:pic>
        <p:nvPicPr>
          <p:cNvPr id="111" name="Google Shape;111;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2" name="Google Shape;112;p15" descr="image.png"/>
          <p:cNvPicPr preferRelativeResize="0"/>
          <p:nvPr/>
        </p:nvPicPr>
        <p:blipFill rotWithShape="1">
          <a:blip r:embed="rId4">
            <a:alphaModFix/>
          </a:blip>
          <a:srcRect/>
          <a:stretch/>
        </p:blipFill>
        <p:spPr>
          <a:xfrm>
            <a:off x="571500" y="2557462"/>
            <a:ext cx="5381625" cy="2667000"/>
          </a:xfrm>
          <a:prstGeom prst="rect">
            <a:avLst/>
          </a:prstGeom>
          <a:noFill/>
          <a:ln>
            <a:noFill/>
          </a:ln>
        </p:spPr>
      </p:pic>
      <p:pic>
        <p:nvPicPr>
          <p:cNvPr id="113" name="Google Shape;113;p15" descr="image.png"/>
          <p:cNvPicPr preferRelativeResize="0"/>
          <p:nvPr/>
        </p:nvPicPr>
        <p:blipFill rotWithShape="1">
          <a:blip r:embed="rId4">
            <a:alphaModFix/>
          </a:blip>
          <a:srcRect/>
          <a:stretch/>
        </p:blipFill>
        <p:spPr>
          <a:xfrm>
            <a:off x="6238875" y="2557462"/>
            <a:ext cx="5381625" cy="2667000"/>
          </a:xfrm>
          <a:prstGeom prst="rect">
            <a:avLst/>
          </a:prstGeom>
          <a:noFill/>
          <a:ln>
            <a:noFill/>
          </a:ln>
        </p:spPr>
      </p:pic>
      <p:sp>
        <p:nvSpPr>
          <p:cNvPr id="114" name="Google Shape;114;p15"/>
          <p:cNvSpPr txBox="1"/>
          <p:nvPr/>
        </p:nvSpPr>
        <p:spPr>
          <a:xfrm>
            <a:off x="857250" y="3443287"/>
            <a:ext cx="50505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073BB"/>
                </a:solidFill>
                <a:latin typeface="Poppins"/>
                <a:ea typeface="Poppins"/>
                <a:cs typeface="Poppins"/>
                <a:sym typeface="Poppins"/>
              </a:rPr>
              <a:t>Trail Logs </a:t>
            </a:r>
            <a:r>
              <a:rPr lang="en-US" sz="2100" b="1" dirty="0">
                <a:solidFill>
                  <a:srgbClr val="0073BB"/>
                </a:solidFill>
                <a:latin typeface="Poppins"/>
                <a:ea typeface="Poppins"/>
                <a:cs typeface="Poppins"/>
                <a:sym typeface="Poppins"/>
              </a:rPr>
              <a:t>- Audit</a:t>
            </a:r>
            <a:endParaRPr dirty="0"/>
          </a:p>
        </p:txBody>
      </p:sp>
      <p:sp>
        <p:nvSpPr>
          <p:cNvPr id="115" name="Google Shape;115;p15"/>
          <p:cNvSpPr txBox="1"/>
          <p:nvPr/>
        </p:nvSpPr>
        <p:spPr>
          <a:xfrm>
            <a:off x="857250" y="3957637"/>
            <a:ext cx="4810125" cy="1292662"/>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dirty="0">
                <a:solidFill>
                  <a:srgbClr val="444444"/>
                </a:solidFill>
                <a:latin typeface="Lato"/>
                <a:ea typeface="Lato"/>
                <a:cs typeface="Lato"/>
                <a:sym typeface="Lato"/>
              </a:rPr>
              <a:t>Audit records of </a:t>
            </a:r>
            <a:r>
              <a:rPr lang="en-US" sz="1500" b="1" i="0" u="none" strike="noStrike" cap="none" dirty="0">
                <a:solidFill>
                  <a:srgbClr val="444444"/>
                </a:solidFill>
                <a:latin typeface="Lato"/>
                <a:ea typeface="Lato"/>
                <a:cs typeface="Lato"/>
                <a:sym typeface="Lato"/>
              </a:rPr>
              <a:t>who did what</a:t>
            </a:r>
            <a:r>
              <a:rPr lang="en-US" sz="1500" b="0" i="0" u="none" strike="noStrike" cap="none" dirty="0">
                <a:solidFill>
                  <a:srgbClr val="444444"/>
                </a:solidFill>
                <a:latin typeface="Lato"/>
                <a:ea typeface="Lato"/>
                <a:cs typeface="Lato"/>
                <a:sym typeface="Lato"/>
              </a:rPr>
              <a:t> at the control plane. Authoritative chain of custody for all API calls (AWS CloudTrail</a:t>
            </a:r>
            <a:r>
              <a:rPr lang="en-US" sz="1500" dirty="0">
                <a:solidFill>
                  <a:srgbClr val="444444"/>
                </a:solidFill>
                <a:latin typeface="Lato"/>
                <a:ea typeface="Lato"/>
                <a:cs typeface="Lato"/>
                <a:sym typeface="Lato"/>
              </a:rPr>
              <a:t>, </a:t>
            </a:r>
            <a:r>
              <a:rPr lang="en-US" sz="1500" b="0" i="0" u="none" strike="noStrike" cap="none" dirty="0">
                <a:solidFill>
                  <a:srgbClr val="444444"/>
                </a:solidFill>
                <a:latin typeface="Lato"/>
                <a:ea typeface="Lato"/>
                <a:cs typeface="Lato"/>
                <a:sym typeface="Lato"/>
              </a:rPr>
              <a:t>GCP – Cloud Audit Logs, Azure – Activity Log).</a:t>
            </a:r>
            <a:endParaRPr dirty="0"/>
          </a:p>
        </p:txBody>
      </p:sp>
      <p:sp>
        <p:nvSpPr>
          <p:cNvPr id="116" name="Google Shape;116;p15"/>
          <p:cNvSpPr txBox="1"/>
          <p:nvPr/>
        </p:nvSpPr>
        <p:spPr>
          <a:xfrm>
            <a:off x="6524625" y="3443287"/>
            <a:ext cx="50505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73BB"/>
                </a:solidFill>
                <a:latin typeface="Poppins"/>
                <a:ea typeface="Poppins"/>
                <a:cs typeface="Poppins"/>
                <a:sym typeface="Poppins"/>
              </a:rPr>
              <a:t>Dump Logs - Operational</a:t>
            </a:r>
            <a:endParaRPr/>
          </a:p>
        </p:txBody>
      </p:sp>
      <p:sp>
        <p:nvSpPr>
          <p:cNvPr id="117" name="Google Shape;117;p15"/>
          <p:cNvSpPr txBox="1"/>
          <p:nvPr/>
        </p:nvSpPr>
        <p:spPr>
          <a:xfrm>
            <a:off x="6524625" y="3957637"/>
            <a:ext cx="4810125" cy="8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Continuous event streams from </a:t>
            </a:r>
            <a:r>
              <a:rPr lang="en-US" sz="1500" b="1" i="0" u="none" strike="noStrike" cap="none">
                <a:solidFill>
                  <a:srgbClr val="444444"/>
                </a:solidFill>
                <a:latin typeface="Lato"/>
                <a:ea typeface="Lato"/>
                <a:cs typeface="Lato"/>
                <a:sym typeface="Lato"/>
              </a:rPr>
              <a:t>data plane</a:t>
            </a:r>
            <a:r>
              <a:rPr lang="en-US" sz="1500" b="0" i="0" u="none" strike="noStrike" cap="none">
                <a:solidFill>
                  <a:srgbClr val="444444"/>
                </a:solidFill>
                <a:latin typeface="Lato"/>
                <a:ea typeface="Lato"/>
                <a:cs typeface="Lato"/>
                <a:sym typeface="Lato"/>
              </a:rPr>
              <a:t> activity. App errors, HTTP access, and database queries (CloudWatch Logs).</a:t>
            </a:r>
            <a:endParaRPr/>
          </a:p>
        </p:txBody>
      </p:sp>
      <p:pic>
        <p:nvPicPr>
          <p:cNvPr id="118" name="Google Shape;118;p15" descr="image.png"/>
          <p:cNvPicPr preferRelativeResize="0"/>
          <p:nvPr/>
        </p:nvPicPr>
        <p:blipFill rotWithShape="1">
          <a:blip r:embed="rId5">
            <a:alphaModFix/>
          </a:blip>
          <a:srcRect/>
          <a:stretch/>
        </p:blipFill>
        <p:spPr>
          <a:xfrm>
            <a:off x="857250" y="2881312"/>
            <a:ext cx="476250" cy="381000"/>
          </a:xfrm>
          <a:prstGeom prst="rect">
            <a:avLst/>
          </a:prstGeom>
          <a:noFill/>
          <a:ln>
            <a:noFill/>
          </a:ln>
        </p:spPr>
      </p:pic>
      <p:pic>
        <p:nvPicPr>
          <p:cNvPr id="119" name="Google Shape;119;p15" descr="image.png"/>
          <p:cNvPicPr preferRelativeResize="0"/>
          <p:nvPr/>
        </p:nvPicPr>
        <p:blipFill rotWithShape="1">
          <a:blip r:embed="rId6">
            <a:alphaModFix/>
          </a:blip>
          <a:srcRect/>
          <a:stretch/>
        </p:blipFill>
        <p:spPr>
          <a:xfrm>
            <a:off x="6524625" y="2881312"/>
            <a:ext cx="428625" cy="381000"/>
          </a:xfrm>
          <a:prstGeom prst="rect">
            <a:avLst/>
          </a:prstGeom>
          <a:noFill/>
          <a:ln>
            <a:noFill/>
          </a:ln>
        </p:spPr>
      </p:pic>
      <p:sp>
        <p:nvSpPr>
          <p:cNvPr id="120" name="Google Shape;120;p15"/>
          <p:cNvSpPr txBox="1"/>
          <p:nvPr/>
        </p:nvSpPr>
        <p:spPr>
          <a:xfrm>
            <a:off x="762000" y="571500"/>
            <a:ext cx="1140142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dirty="0">
                <a:solidFill>
                  <a:srgbClr val="232F3E"/>
                </a:solidFill>
                <a:latin typeface="Poppins"/>
                <a:ea typeface="Poppins"/>
                <a:cs typeface="Poppins"/>
                <a:sym typeface="Poppins"/>
              </a:rPr>
              <a:t>Trail Logs vs. Dump Logs</a:t>
            </a:r>
            <a:endParaRPr dirty="0"/>
          </a:p>
        </p:txBody>
      </p:sp>
      <p:sp>
        <p:nvSpPr>
          <p:cNvPr id="121" name="Google Shape;121;p15"/>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0"/>
        <p:cNvGrpSpPr/>
        <p:nvPr/>
      </p:nvGrpSpPr>
      <p:grpSpPr>
        <a:xfrm>
          <a:off x="0" y="0"/>
          <a:ext cx="0" cy="0"/>
          <a:chOff x="0" y="0"/>
          <a:chExt cx="0" cy="0"/>
        </a:xfrm>
      </p:grpSpPr>
      <p:pic>
        <p:nvPicPr>
          <p:cNvPr id="111" name="Google Shape;111;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20" name="Google Shape;120;p15"/>
          <p:cNvSpPr txBox="1"/>
          <p:nvPr/>
        </p:nvSpPr>
        <p:spPr>
          <a:xfrm>
            <a:off x="762000" y="571500"/>
            <a:ext cx="11401425"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dirty="0">
                <a:solidFill>
                  <a:srgbClr val="232F3E"/>
                </a:solidFill>
                <a:latin typeface="Poppins"/>
                <a:ea typeface="Poppins"/>
                <a:cs typeface="Poppins"/>
                <a:sym typeface="Poppins"/>
              </a:rPr>
              <a:t>Other types of </a:t>
            </a:r>
            <a:r>
              <a:rPr lang="en-US" sz="2850" b="1" i="0" u="none" strike="noStrike" cap="none" dirty="0">
                <a:solidFill>
                  <a:srgbClr val="232F3E"/>
                </a:solidFill>
                <a:latin typeface="Poppins"/>
                <a:ea typeface="Poppins"/>
                <a:cs typeface="Poppins"/>
                <a:sym typeface="Poppins"/>
              </a:rPr>
              <a:t>Logs</a:t>
            </a:r>
            <a:endParaRPr dirty="0"/>
          </a:p>
        </p:txBody>
      </p:sp>
      <p:sp>
        <p:nvSpPr>
          <p:cNvPr id="121" name="Google Shape;121;p15"/>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30DD5E16-6DA4-44F2-B6CB-FF916F54C1CE}"/>
              </a:ext>
            </a:extLst>
          </p:cNvPr>
          <p:cNvSpPr txBox="1"/>
          <p:nvPr/>
        </p:nvSpPr>
        <p:spPr>
          <a:xfrm>
            <a:off x="571500" y="1603948"/>
            <a:ext cx="11063678" cy="4308872"/>
          </a:xfrm>
          <a:prstGeom prst="rect">
            <a:avLst/>
          </a:prstGeom>
          <a:noFill/>
        </p:spPr>
        <p:txBody>
          <a:bodyPr wrap="square" rtlCol="0">
            <a:spAutoFit/>
          </a:bodyPr>
          <a:lstStyle/>
          <a:p>
            <a:pPr marL="342900" indent="-342900">
              <a:buFont typeface="Arial" panose="020B0604020202020204" pitchFamily="34" charset="0"/>
              <a:buChar char="•"/>
            </a:pPr>
            <a:r>
              <a:rPr lang="en-US" sz="2000" b="1" dirty="0">
                <a:solidFill>
                  <a:srgbClr val="232F3E"/>
                </a:solidFill>
                <a:latin typeface="Poppins"/>
                <a:cs typeface="Poppins"/>
              </a:rPr>
              <a:t>Network Logs (Flow Logs) </a:t>
            </a:r>
            <a:r>
              <a:rPr lang="en-US" sz="2000" dirty="0">
                <a:solidFill>
                  <a:srgbClr val="232F3E"/>
                </a:solidFill>
                <a:latin typeface="Poppins"/>
                <a:cs typeface="Poppins"/>
              </a:rPr>
              <a:t>-These record the IP traffic going to and from network interfaces. They are critical for security forensics and troubleshooting connectivity issues.</a:t>
            </a:r>
          </a:p>
          <a:p>
            <a:pPr marL="342900" indent="-342900">
              <a:buFont typeface="Arial" panose="020B0604020202020204" pitchFamily="34" charset="0"/>
              <a:buChar char="•"/>
            </a:pPr>
            <a:r>
              <a:rPr lang="en-US" sz="2000" b="1" dirty="0">
                <a:solidFill>
                  <a:srgbClr val="232F3E"/>
                </a:solidFill>
                <a:latin typeface="Poppins"/>
                <a:cs typeface="Poppins"/>
              </a:rPr>
              <a:t>Application Logs</a:t>
            </a:r>
            <a:r>
              <a:rPr lang="en-US" sz="2000" dirty="0">
                <a:solidFill>
                  <a:srgbClr val="232F3E"/>
                </a:solidFill>
                <a:latin typeface="Poppins"/>
                <a:cs typeface="Poppins"/>
              </a:rPr>
              <a:t> - Generated by the code or the runtime environment (e.g., Java, Python, Node.js). These are custom-defined by developers to track the internal health of an app.</a:t>
            </a:r>
          </a:p>
          <a:p>
            <a:pPr marL="342900" indent="-342900">
              <a:buFont typeface="Arial" panose="020B0604020202020204" pitchFamily="34" charset="0"/>
              <a:buChar char="•"/>
            </a:pPr>
            <a:r>
              <a:rPr lang="en-US" sz="2000" b="1" dirty="0">
                <a:solidFill>
                  <a:srgbClr val="232F3E"/>
                </a:solidFill>
                <a:latin typeface="Poppins"/>
                <a:cs typeface="Poppins"/>
              </a:rPr>
              <a:t>Resource &amp; Service Logs </a:t>
            </a:r>
            <a:r>
              <a:rPr lang="en-US" sz="2000" dirty="0">
                <a:solidFill>
                  <a:srgbClr val="232F3E"/>
                </a:solidFill>
                <a:latin typeface="Poppins"/>
                <a:cs typeface="Poppins"/>
              </a:rPr>
              <a:t>-These logs come from the cloud services themselves (managed databases, load balancers, etc.) and describe their internal operations rather than user actions.</a:t>
            </a:r>
          </a:p>
          <a:p>
            <a:pPr marL="342900" indent="-342900">
              <a:buFont typeface="Arial" panose="020B0604020202020204" pitchFamily="34" charset="0"/>
              <a:buChar char="•"/>
            </a:pPr>
            <a:r>
              <a:rPr lang="en-US" sz="2000" b="1" dirty="0">
                <a:solidFill>
                  <a:srgbClr val="232F3E"/>
                </a:solidFill>
                <a:latin typeface="Poppins"/>
                <a:cs typeface="Poppins"/>
              </a:rPr>
              <a:t>System (OS-Level) </a:t>
            </a:r>
            <a:r>
              <a:rPr lang="en-US" sz="2000" dirty="0">
                <a:solidFill>
                  <a:srgbClr val="232F3E"/>
                </a:solidFill>
                <a:latin typeface="Poppins"/>
                <a:cs typeface="Poppins"/>
              </a:rPr>
              <a:t>Logs -These are generated by the operating system (Linux/Windows) running on your Virtual Machines.</a:t>
            </a:r>
          </a:p>
          <a:p>
            <a:pPr marL="342900" indent="-342900">
              <a:buFont typeface="Arial" panose="020B0604020202020204" pitchFamily="34" charset="0"/>
              <a:buChar char="•"/>
            </a:pPr>
            <a:r>
              <a:rPr lang="en-US" sz="2000" b="1" dirty="0">
                <a:solidFill>
                  <a:srgbClr val="232F3E"/>
                </a:solidFill>
                <a:latin typeface="Poppins"/>
                <a:cs typeface="Poppins"/>
              </a:rPr>
              <a:t>Access Logs-Specific</a:t>
            </a:r>
            <a:r>
              <a:rPr lang="en-US" sz="2000" dirty="0">
                <a:solidFill>
                  <a:srgbClr val="232F3E"/>
                </a:solidFill>
                <a:latin typeface="Poppins"/>
                <a:cs typeface="Poppins"/>
              </a:rPr>
              <a:t> to storage and delivery services, these track every single request made to an object or a file.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667545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5"/>
        <p:cNvGrpSpPr/>
        <p:nvPr/>
      </p:nvGrpSpPr>
      <p:grpSpPr>
        <a:xfrm>
          <a:off x="0" y="0"/>
          <a:ext cx="0" cy="0"/>
          <a:chOff x="0" y="0"/>
          <a:chExt cx="0" cy="0"/>
        </a:xfrm>
      </p:grpSpPr>
      <p:pic>
        <p:nvPicPr>
          <p:cNvPr id="126" name="Google Shape;126;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127" name="Google Shape;127;p16"/>
          <p:cNvGraphicFramePr/>
          <p:nvPr>
            <p:extLst>
              <p:ext uri="{D42A27DB-BD31-4B8C-83A1-F6EECF244321}">
                <p14:modId xmlns:p14="http://schemas.microsoft.com/office/powerpoint/2010/main" val="3930905679"/>
              </p:ext>
            </p:extLst>
          </p:nvPr>
        </p:nvGraphicFramePr>
        <p:xfrm>
          <a:off x="571500" y="2605087"/>
          <a:ext cx="11049025" cy="2571750"/>
        </p:xfrm>
        <a:graphic>
          <a:graphicData uri="http://schemas.openxmlformats.org/drawingml/2006/table">
            <a:tbl>
              <a:tblPr firstRow="1" bandRow="1">
                <a:noFill/>
                <a:tableStyleId>{3796CCCC-D195-4ECD-B664-7D1EE737A1EF}</a:tableStyleId>
              </a:tblPr>
              <a:tblGrid>
                <a:gridCol w="2614025">
                  <a:extLst>
                    <a:ext uri="{9D8B030D-6E8A-4147-A177-3AD203B41FA5}">
                      <a16:colId xmlns:a16="http://schemas.microsoft.com/office/drawing/2014/main" val="20000"/>
                    </a:ext>
                  </a:extLst>
                </a:gridCol>
                <a:gridCol w="3258900">
                  <a:extLst>
                    <a:ext uri="{9D8B030D-6E8A-4147-A177-3AD203B41FA5}">
                      <a16:colId xmlns:a16="http://schemas.microsoft.com/office/drawing/2014/main" val="20001"/>
                    </a:ext>
                  </a:extLst>
                </a:gridCol>
                <a:gridCol w="5176100">
                  <a:extLst>
                    <a:ext uri="{9D8B030D-6E8A-4147-A177-3AD203B41FA5}">
                      <a16:colId xmlns:a16="http://schemas.microsoft.com/office/drawing/2014/main" val="20002"/>
                    </a:ext>
                  </a:extLst>
                </a:gridCol>
              </a:tblGrid>
              <a:tr h="514350">
                <a:tc>
                  <a:txBody>
                    <a:bodyPr/>
                    <a:lstStyle/>
                    <a:p>
                      <a:pPr marL="0" marR="0" lvl="0" indent="0" algn="l" rtl="0">
                        <a:spcBef>
                          <a:spcPts val="0"/>
                        </a:spcBef>
                        <a:spcAft>
                          <a:spcPts val="0"/>
                        </a:spcAft>
                        <a:buNone/>
                      </a:pPr>
                      <a:r>
                        <a:rPr lang="en-US" sz="1500" b="1" i="0" u="none" strike="noStrike" cap="none" dirty="0">
                          <a:solidFill>
                            <a:srgbClr val="FFFFFF"/>
                          </a:solidFill>
                          <a:latin typeface="Lato"/>
                          <a:ea typeface="Lato"/>
                          <a:cs typeface="Lato"/>
                          <a:sym typeface="Lato"/>
                        </a:rPr>
                        <a:t>Log Type</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32F3E"/>
                    </a:solidFill>
                  </a:tcPr>
                </a:tc>
                <a:tc>
                  <a:txBody>
                    <a:bodyPr/>
                    <a:lstStyle/>
                    <a:p>
                      <a:pPr marL="0" marR="0" lvl="0" indent="0" algn="l" rtl="0">
                        <a:spcBef>
                          <a:spcPts val="0"/>
                        </a:spcBef>
                        <a:spcAft>
                          <a:spcPts val="0"/>
                        </a:spcAft>
                        <a:buNone/>
                      </a:pPr>
                      <a:r>
                        <a:rPr lang="en-US" sz="1500" b="1" i="0" u="none" strike="noStrike" cap="none" dirty="0">
                          <a:solidFill>
                            <a:srgbClr val="FFFFFF"/>
                          </a:solidFill>
                          <a:latin typeface="Lato"/>
                          <a:ea typeface="Lato"/>
                          <a:cs typeface="Lato"/>
                          <a:sym typeface="Lato"/>
                        </a:rPr>
                        <a:t>AWS/GCP/AZURE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32F3E"/>
                    </a:solidFill>
                  </a:tcPr>
                </a:tc>
                <a:tc>
                  <a:txBody>
                    <a:bodyPr/>
                    <a:lstStyle/>
                    <a:p>
                      <a:pPr marL="0" marR="0" lvl="0" indent="0" algn="l" rtl="0">
                        <a:spcBef>
                          <a:spcPts val="0"/>
                        </a:spcBef>
                        <a:spcAft>
                          <a:spcPts val="0"/>
                        </a:spcAft>
                        <a:buNone/>
                      </a:pPr>
                      <a:r>
                        <a:rPr lang="en-US" sz="1500" b="1" i="0" u="none" strike="noStrike" cap="none" dirty="0">
                          <a:solidFill>
                            <a:srgbClr val="FFFFFF"/>
                          </a:solidFill>
                          <a:latin typeface="Lato"/>
                          <a:ea typeface="Lato"/>
                          <a:cs typeface="Lato"/>
                          <a:sym typeface="Lato"/>
                        </a:rPr>
                        <a:t>Primary Use Case</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32F3E"/>
                    </a:solidFill>
                  </a:tcPr>
                </a:tc>
                <a:extLst>
                  <a:ext uri="{0D108BD9-81ED-4DB2-BD59-A6C34878D82A}">
                    <a16:rowId xmlns:a16="http://schemas.microsoft.com/office/drawing/2014/main" val="10000"/>
                  </a:ext>
                </a:extLst>
              </a:tr>
              <a:tr h="514350">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Trail Events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dirty="0">
                          <a:solidFill>
                            <a:srgbClr val="444444"/>
                          </a:solidFill>
                          <a:latin typeface="Lato"/>
                          <a:ea typeface="Lato"/>
                          <a:cs typeface="Lato"/>
                          <a:sym typeface="Lato"/>
                        </a:rPr>
                        <a:t>CloudTrail/Cloud Audit Logs/Azure Logs               </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Governance &amp; Security Audit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14350">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Network Logs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dirty="0">
                          <a:solidFill>
                            <a:srgbClr val="444444"/>
                          </a:solidFill>
                          <a:latin typeface="Lato"/>
                          <a:ea typeface="Lato"/>
                          <a:cs typeface="Lato"/>
                          <a:sym typeface="Lato"/>
                        </a:rPr>
                        <a:t>VPC Flow Logs</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Network Troubleshooting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extLst>
                  <a:ext uri="{0D108BD9-81ED-4DB2-BD59-A6C34878D82A}">
                    <a16:rowId xmlns:a16="http://schemas.microsoft.com/office/drawing/2014/main" val="10002"/>
                  </a:ext>
                </a:extLst>
              </a:tr>
              <a:tr h="514350">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Application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dirty="0">
                          <a:solidFill>
                            <a:srgbClr val="444444"/>
                          </a:solidFill>
                          <a:latin typeface="Lato"/>
                          <a:ea typeface="Lato"/>
                          <a:cs typeface="Lato"/>
                          <a:sym typeface="Lato"/>
                        </a:rPr>
                        <a:t>Lambda/ECS/EC2</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Debugging &amp; App Performance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14350">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Access Logs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ALB / CloudFront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dirty="0">
                          <a:solidFill>
                            <a:srgbClr val="444444"/>
                          </a:solidFill>
                          <a:latin typeface="Lato"/>
                          <a:ea typeface="Lato"/>
                          <a:cs typeface="Lato"/>
                          <a:sym typeface="Lato"/>
                        </a:rPr>
                        <a:t>Traffic Analysis &amp; Forensics</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extLst>
                  <a:ext uri="{0D108BD9-81ED-4DB2-BD59-A6C34878D82A}">
                    <a16:rowId xmlns:a16="http://schemas.microsoft.com/office/drawing/2014/main" val="10004"/>
                  </a:ext>
                </a:extLst>
              </a:tr>
            </a:tbl>
          </a:graphicData>
        </a:graphic>
      </p:graphicFrame>
      <p:sp>
        <p:nvSpPr>
          <p:cNvPr id="128" name="Google Shape;128;p16"/>
          <p:cNvSpPr/>
          <p:nvPr/>
        </p:nvSpPr>
        <p:spPr>
          <a:xfrm>
            <a:off x="571500" y="3648075"/>
            <a:ext cx="261401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9" name="Google Shape;129;p16"/>
          <p:cNvSpPr/>
          <p:nvPr/>
        </p:nvSpPr>
        <p:spPr>
          <a:xfrm>
            <a:off x="3185517" y="3648075"/>
            <a:ext cx="325888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0" name="Google Shape;130;p16"/>
          <p:cNvSpPr/>
          <p:nvPr/>
        </p:nvSpPr>
        <p:spPr>
          <a:xfrm>
            <a:off x="6444406" y="3648075"/>
            <a:ext cx="5176093"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1" name="Google Shape;131;p16"/>
          <p:cNvSpPr/>
          <p:nvPr/>
        </p:nvSpPr>
        <p:spPr>
          <a:xfrm>
            <a:off x="571500" y="4152900"/>
            <a:ext cx="261401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 name="Google Shape;132;p16"/>
          <p:cNvSpPr/>
          <p:nvPr/>
        </p:nvSpPr>
        <p:spPr>
          <a:xfrm>
            <a:off x="3185517" y="4152900"/>
            <a:ext cx="325888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 name="Google Shape;133;p16"/>
          <p:cNvSpPr/>
          <p:nvPr/>
        </p:nvSpPr>
        <p:spPr>
          <a:xfrm>
            <a:off x="6444406" y="4152900"/>
            <a:ext cx="5176093"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4" name="Google Shape;134;p16"/>
          <p:cNvSpPr/>
          <p:nvPr/>
        </p:nvSpPr>
        <p:spPr>
          <a:xfrm>
            <a:off x="571500" y="4657725"/>
            <a:ext cx="261401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5" name="Google Shape;135;p16"/>
          <p:cNvSpPr/>
          <p:nvPr/>
        </p:nvSpPr>
        <p:spPr>
          <a:xfrm>
            <a:off x="3185517" y="4657725"/>
            <a:ext cx="325888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 name="Google Shape;136;p16"/>
          <p:cNvSpPr/>
          <p:nvPr/>
        </p:nvSpPr>
        <p:spPr>
          <a:xfrm>
            <a:off x="6444406" y="4657725"/>
            <a:ext cx="5176093"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7" name="Google Shape;137;p16"/>
          <p:cNvSpPr/>
          <p:nvPr/>
        </p:nvSpPr>
        <p:spPr>
          <a:xfrm>
            <a:off x="571500" y="5162550"/>
            <a:ext cx="261401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 name="Google Shape;138;p16"/>
          <p:cNvSpPr/>
          <p:nvPr/>
        </p:nvSpPr>
        <p:spPr>
          <a:xfrm>
            <a:off x="3185517" y="5162550"/>
            <a:ext cx="325888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9" name="Google Shape;139;p16"/>
          <p:cNvSpPr/>
          <p:nvPr/>
        </p:nvSpPr>
        <p:spPr>
          <a:xfrm>
            <a:off x="6444406" y="5162550"/>
            <a:ext cx="5176093"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0" name="Google Shape;140;p16"/>
          <p:cNvSpPr txBox="1"/>
          <p:nvPr/>
        </p:nvSpPr>
        <p:spPr>
          <a:xfrm>
            <a:off x="762000" y="571500"/>
            <a:ext cx="1140142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232F3E"/>
                </a:solidFill>
                <a:latin typeface="Poppins"/>
                <a:ea typeface="Poppins"/>
                <a:cs typeface="Poppins"/>
                <a:sym typeface="Poppins"/>
              </a:rPr>
              <a:t>Common AWS Log Sources</a:t>
            </a:r>
            <a:endParaRPr/>
          </a:p>
        </p:txBody>
      </p:sp>
      <p:sp>
        <p:nvSpPr>
          <p:cNvPr id="141" name="Google Shape;141;p16"/>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5"/>
        <p:cNvGrpSpPr/>
        <p:nvPr/>
      </p:nvGrpSpPr>
      <p:grpSpPr>
        <a:xfrm>
          <a:off x="0" y="0"/>
          <a:ext cx="0" cy="0"/>
          <a:chOff x="0" y="0"/>
          <a:chExt cx="0" cy="0"/>
        </a:xfrm>
      </p:grpSpPr>
      <p:pic>
        <p:nvPicPr>
          <p:cNvPr id="146" name="Google Shape;146;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7" name="Google Shape;147;p17" descr="image.png"/>
          <p:cNvPicPr preferRelativeResize="0"/>
          <p:nvPr/>
        </p:nvPicPr>
        <p:blipFill rotWithShape="1">
          <a:blip r:embed="rId4">
            <a:alphaModFix/>
          </a:blip>
          <a:srcRect/>
          <a:stretch/>
        </p:blipFill>
        <p:spPr>
          <a:xfrm>
            <a:off x="571500" y="2690812"/>
            <a:ext cx="3492549" cy="2400300"/>
          </a:xfrm>
          <a:prstGeom prst="rect">
            <a:avLst/>
          </a:prstGeom>
          <a:noFill/>
          <a:ln>
            <a:noFill/>
          </a:ln>
        </p:spPr>
      </p:pic>
      <p:pic>
        <p:nvPicPr>
          <p:cNvPr id="148" name="Google Shape;148;p17" descr="image.png"/>
          <p:cNvPicPr preferRelativeResize="0"/>
          <p:nvPr/>
        </p:nvPicPr>
        <p:blipFill rotWithShape="1">
          <a:blip r:embed="rId5">
            <a:alphaModFix/>
          </a:blip>
          <a:srcRect/>
          <a:stretch/>
        </p:blipFill>
        <p:spPr>
          <a:xfrm>
            <a:off x="4349799" y="2690812"/>
            <a:ext cx="3492549" cy="2400300"/>
          </a:xfrm>
          <a:prstGeom prst="rect">
            <a:avLst/>
          </a:prstGeom>
          <a:noFill/>
          <a:ln>
            <a:noFill/>
          </a:ln>
        </p:spPr>
      </p:pic>
      <p:pic>
        <p:nvPicPr>
          <p:cNvPr id="149" name="Google Shape;149;p17" descr="image.png"/>
          <p:cNvPicPr preferRelativeResize="0"/>
          <p:nvPr/>
        </p:nvPicPr>
        <p:blipFill rotWithShape="1">
          <a:blip r:embed="rId6">
            <a:alphaModFix/>
          </a:blip>
          <a:srcRect/>
          <a:stretch/>
        </p:blipFill>
        <p:spPr>
          <a:xfrm>
            <a:off x="8128099" y="2690812"/>
            <a:ext cx="3492549" cy="2400300"/>
          </a:xfrm>
          <a:prstGeom prst="rect">
            <a:avLst/>
          </a:prstGeom>
          <a:noFill/>
          <a:ln>
            <a:noFill/>
          </a:ln>
        </p:spPr>
      </p:pic>
      <p:sp>
        <p:nvSpPr>
          <p:cNvPr id="150" name="Google Shape;150;p17"/>
          <p:cNvSpPr txBox="1"/>
          <p:nvPr/>
        </p:nvSpPr>
        <p:spPr>
          <a:xfrm>
            <a:off x="857250" y="3576637"/>
            <a:ext cx="306710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73BB"/>
                </a:solidFill>
                <a:latin typeface="Poppins"/>
                <a:ea typeface="Poppins"/>
                <a:cs typeface="Poppins"/>
                <a:sym typeface="Poppins"/>
              </a:rPr>
              <a:t>Tier 1: Security</a:t>
            </a:r>
            <a:endParaRPr/>
          </a:p>
        </p:txBody>
      </p:sp>
      <p:sp>
        <p:nvSpPr>
          <p:cNvPr id="151" name="Google Shape;151;p17"/>
          <p:cNvSpPr txBox="1"/>
          <p:nvPr/>
        </p:nvSpPr>
        <p:spPr>
          <a:xfrm>
            <a:off x="857250" y="4090987"/>
            <a:ext cx="2921049"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CloudTrail, GuardDuty. Immutable, encrypted, long-term retention.</a:t>
            </a:r>
            <a:endParaRPr/>
          </a:p>
        </p:txBody>
      </p:sp>
      <p:sp>
        <p:nvSpPr>
          <p:cNvPr id="152" name="Google Shape;152;p17"/>
          <p:cNvSpPr txBox="1"/>
          <p:nvPr/>
        </p:nvSpPr>
        <p:spPr>
          <a:xfrm>
            <a:off x="4635549" y="3576637"/>
            <a:ext cx="306710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73BB"/>
                </a:solidFill>
                <a:latin typeface="Poppins"/>
                <a:ea typeface="Poppins"/>
                <a:cs typeface="Poppins"/>
                <a:sym typeface="Poppins"/>
              </a:rPr>
              <a:t>Tier 2: Operational</a:t>
            </a:r>
            <a:endParaRPr/>
          </a:p>
        </p:txBody>
      </p:sp>
      <p:sp>
        <p:nvSpPr>
          <p:cNvPr id="153" name="Google Shape;153;p17"/>
          <p:cNvSpPr txBox="1"/>
          <p:nvPr/>
        </p:nvSpPr>
        <p:spPr>
          <a:xfrm>
            <a:off x="4635549" y="4090987"/>
            <a:ext cx="2921049"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App logs, ALB logs. High frequency, used for daily incidents.</a:t>
            </a:r>
            <a:endParaRPr/>
          </a:p>
        </p:txBody>
      </p:sp>
      <p:sp>
        <p:nvSpPr>
          <p:cNvPr id="154" name="Google Shape;154;p17"/>
          <p:cNvSpPr txBox="1"/>
          <p:nvPr/>
        </p:nvSpPr>
        <p:spPr>
          <a:xfrm>
            <a:off x="8413849" y="3576637"/>
            <a:ext cx="306710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73BB"/>
                </a:solidFill>
                <a:latin typeface="Poppins"/>
                <a:ea typeface="Poppins"/>
                <a:cs typeface="Poppins"/>
                <a:sym typeface="Poppins"/>
              </a:rPr>
              <a:t>Tier 3: Diagnostic</a:t>
            </a:r>
            <a:endParaRPr/>
          </a:p>
        </p:txBody>
      </p:sp>
      <p:sp>
        <p:nvSpPr>
          <p:cNvPr id="155" name="Google Shape;155;p17"/>
          <p:cNvSpPr txBox="1"/>
          <p:nvPr/>
        </p:nvSpPr>
        <p:spPr>
          <a:xfrm>
            <a:off x="8413849" y="4090987"/>
            <a:ext cx="2921049"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Verbose debug output. Short retention (3-7 days), low value.</a:t>
            </a:r>
            <a:endParaRPr/>
          </a:p>
        </p:txBody>
      </p:sp>
      <p:pic>
        <p:nvPicPr>
          <p:cNvPr id="156" name="Google Shape;156;p17" descr="image.png"/>
          <p:cNvPicPr preferRelativeResize="0"/>
          <p:nvPr/>
        </p:nvPicPr>
        <p:blipFill rotWithShape="1">
          <a:blip r:embed="rId7">
            <a:alphaModFix/>
          </a:blip>
          <a:srcRect/>
          <a:stretch/>
        </p:blipFill>
        <p:spPr>
          <a:xfrm>
            <a:off x="857250" y="3014662"/>
            <a:ext cx="381000" cy="381000"/>
          </a:xfrm>
          <a:prstGeom prst="rect">
            <a:avLst/>
          </a:prstGeom>
          <a:noFill/>
          <a:ln>
            <a:noFill/>
          </a:ln>
        </p:spPr>
      </p:pic>
      <p:pic>
        <p:nvPicPr>
          <p:cNvPr id="157" name="Google Shape;157;p17" descr="image.png"/>
          <p:cNvPicPr preferRelativeResize="0"/>
          <p:nvPr/>
        </p:nvPicPr>
        <p:blipFill rotWithShape="1">
          <a:blip r:embed="rId8">
            <a:alphaModFix/>
          </a:blip>
          <a:srcRect/>
          <a:stretch/>
        </p:blipFill>
        <p:spPr>
          <a:xfrm>
            <a:off x="4635549" y="3014662"/>
            <a:ext cx="381000" cy="381000"/>
          </a:xfrm>
          <a:prstGeom prst="rect">
            <a:avLst/>
          </a:prstGeom>
          <a:noFill/>
          <a:ln>
            <a:noFill/>
          </a:ln>
        </p:spPr>
      </p:pic>
      <p:pic>
        <p:nvPicPr>
          <p:cNvPr id="158" name="Google Shape;158;p17" descr="image.png"/>
          <p:cNvPicPr preferRelativeResize="0"/>
          <p:nvPr/>
        </p:nvPicPr>
        <p:blipFill rotWithShape="1">
          <a:blip r:embed="rId9">
            <a:alphaModFix/>
          </a:blip>
          <a:srcRect/>
          <a:stretch/>
        </p:blipFill>
        <p:spPr>
          <a:xfrm>
            <a:off x="8413849" y="3014662"/>
            <a:ext cx="381000" cy="381000"/>
          </a:xfrm>
          <a:prstGeom prst="rect">
            <a:avLst/>
          </a:prstGeom>
          <a:noFill/>
          <a:ln>
            <a:noFill/>
          </a:ln>
        </p:spPr>
      </p:pic>
      <p:sp>
        <p:nvSpPr>
          <p:cNvPr id="159" name="Google Shape;159;p17"/>
          <p:cNvSpPr txBox="1"/>
          <p:nvPr/>
        </p:nvSpPr>
        <p:spPr>
          <a:xfrm>
            <a:off x="762000" y="571500"/>
            <a:ext cx="11401500" cy="715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232F3E"/>
                </a:solidFill>
                <a:latin typeface="Poppins"/>
                <a:ea typeface="Poppins"/>
                <a:cs typeface="Poppins"/>
                <a:sym typeface="Poppins"/>
              </a:rPr>
              <a:t>The Three-Tier Log Hierarchy </a:t>
            </a:r>
            <a:endParaRPr sz="2850" b="1">
              <a:solidFill>
                <a:srgbClr val="232F3E"/>
              </a:solidFill>
              <a:latin typeface="Poppins"/>
              <a:ea typeface="Poppins"/>
              <a:cs typeface="Poppins"/>
              <a:sym typeface="Poppins"/>
            </a:endParaRPr>
          </a:p>
          <a:p>
            <a:pPr marL="0" marR="0" lvl="0" indent="0" algn="l" rtl="0">
              <a:spcBef>
                <a:spcPts val="0"/>
              </a:spcBef>
              <a:spcAft>
                <a:spcPts val="0"/>
              </a:spcAft>
              <a:buNone/>
            </a:pPr>
            <a:r>
              <a:rPr lang="en-US" sz="1800">
                <a:solidFill>
                  <a:srgbClr val="232F3E"/>
                </a:solidFill>
                <a:latin typeface="Poppins"/>
                <a:ea typeface="Poppins"/>
                <a:cs typeface="Poppins"/>
                <a:sym typeface="Poppins"/>
              </a:rPr>
              <a:t>Organizing and dividing logs</a:t>
            </a:r>
            <a:endParaRPr sz="1800">
              <a:solidFill>
                <a:srgbClr val="232F3E"/>
              </a:solidFill>
              <a:latin typeface="Poppins"/>
              <a:ea typeface="Poppins"/>
              <a:cs typeface="Poppins"/>
              <a:sym typeface="Poppins"/>
            </a:endParaRPr>
          </a:p>
        </p:txBody>
      </p:sp>
      <p:sp>
        <p:nvSpPr>
          <p:cNvPr id="160" name="Google Shape;160;p17"/>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5"/>
        <p:cNvGrpSpPr/>
        <p:nvPr/>
      </p:nvGrpSpPr>
      <p:grpSpPr>
        <a:xfrm>
          <a:off x="0" y="0"/>
          <a:ext cx="0" cy="0"/>
          <a:chOff x="0" y="0"/>
          <a:chExt cx="0" cy="0"/>
        </a:xfrm>
      </p:grpSpPr>
      <p:pic>
        <p:nvPicPr>
          <p:cNvPr id="146" name="Google Shape;146;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7" name="Google Shape;147;p17" descr="image.png"/>
          <p:cNvPicPr preferRelativeResize="0"/>
          <p:nvPr/>
        </p:nvPicPr>
        <p:blipFill rotWithShape="1">
          <a:blip r:embed="rId4">
            <a:alphaModFix/>
          </a:blip>
          <a:srcRect/>
          <a:stretch/>
        </p:blipFill>
        <p:spPr>
          <a:xfrm>
            <a:off x="571500" y="2690812"/>
            <a:ext cx="3492549" cy="2400300"/>
          </a:xfrm>
          <a:prstGeom prst="rect">
            <a:avLst/>
          </a:prstGeom>
          <a:noFill/>
          <a:ln>
            <a:noFill/>
          </a:ln>
        </p:spPr>
      </p:pic>
      <p:pic>
        <p:nvPicPr>
          <p:cNvPr id="148" name="Google Shape;148;p17" descr="image.png"/>
          <p:cNvPicPr preferRelativeResize="0"/>
          <p:nvPr/>
        </p:nvPicPr>
        <p:blipFill rotWithShape="1">
          <a:blip r:embed="rId5">
            <a:alphaModFix/>
          </a:blip>
          <a:srcRect/>
          <a:stretch/>
        </p:blipFill>
        <p:spPr>
          <a:xfrm>
            <a:off x="4349799" y="2690812"/>
            <a:ext cx="3492549" cy="2400300"/>
          </a:xfrm>
          <a:prstGeom prst="rect">
            <a:avLst/>
          </a:prstGeom>
          <a:noFill/>
          <a:ln>
            <a:noFill/>
          </a:ln>
        </p:spPr>
      </p:pic>
      <p:pic>
        <p:nvPicPr>
          <p:cNvPr id="149" name="Google Shape;149;p17" descr="image.png"/>
          <p:cNvPicPr preferRelativeResize="0"/>
          <p:nvPr/>
        </p:nvPicPr>
        <p:blipFill rotWithShape="1">
          <a:blip r:embed="rId6">
            <a:alphaModFix/>
          </a:blip>
          <a:srcRect/>
          <a:stretch/>
        </p:blipFill>
        <p:spPr>
          <a:xfrm>
            <a:off x="8128099" y="2690812"/>
            <a:ext cx="3492549" cy="2400300"/>
          </a:xfrm>
          <a:prstGeom prst="rect">
            <a:avLst/>
          </a:prstGeom>
          <a:noFill/>
          <a:ln>
            <a:noFill/>
          </a:ln>
        </p:spPr>
      </p:pic>
      <p:sp>
        <p:nvSpPr>
          <p:cNvPr id="150" name="Google Shape;150;p17"/>
          <p:cNvSpPr txBox="1"/>
          <p:nvPr/>
        </p:nvSpPr>
        <p:spPr>
          <a:xfrm>
            <a:off x="857250" y="3576637"/>
            <a:ext cx="306710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73BB"/>
                </a:solidFill>
                <a:latin typeface="Poppins"/>
                <a:ea typeface="Poppins"/>
                <a:cs typeface="Poppins"/>
                <a:sym typeface="Poppins"/>
              </a:rPr>
              <a:t>Tier 1: Security</a:t>
            </a:r>
            <a:endParaRPr/>
          </a:p>
        </p:txBody>
      </p:sp>
      <p:sp>
        <p:nvSpPr>
          <p:cNvPr id="151" name="Google Shape;151;p17"/>
          <p:cNvSpPr txBox="1"/>
          <p:nvPr/>
        </p:nvSpPr>
        <p:spPr>
          <a:xfrm>
            <a:off x="857250" y="4090987"/>
            <a:ext cx="2921049"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CloudTrail, GuardDuty. Immutable, encrypted, long-term retention.</a:t>
            </a:r>
            <a:endParaRPr/>
          </a:p>
        </p:txBody>
      </p:sp>
      <p:sp>
        <p:nvSpPr>
          <p:cNvPr id="152" name="Google Shape;152;p17"/>
          <p:cNvSpPr txBox="1"/>
          <p:nvPr/>
        </p:nvSpPr>
        <p:spPr>
          <a:xfrm>
            <a:off x="4635549" y="3576637"/>
            <a:ext cx="306710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73BB"/>
                </a:solidFill>
                <a:latin typeface="Poppins"/>
                <a:ea typeface="Poppins"/>
                <a:cs typeface="Poppins"/>
                <a:sym typeface="Poppins"/>
              </a:rPr>
              <a:t>Tier 2: Operational</a:t>
            </a:r>
            <a:endParaRPr/>
          </a:p>
        </p:txBody>
      </p:sp>
      <p:sp>
        <p:nvSpPr>
          <p:cNvPr id="153" name="Google Shape;153;p17"/>
          <p:cNvSpPr txBox="1"/>
          <p:nvPr/>
        </p:nvSpPr>
        <p:spPr>
          <a:xfrm>
            <a:off x="4635549" y="4090987"/>
            <a:ext cx="2921049"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App logs, ALB logs. High frequency, used for daily incidents.</a:t>
            </a:r>
            <a:endParaRPr/>
          </a:p>
        </p:txBody>
      </p:sp>
      <p:sp>
        <p:nvSpPr>
          <p:cNvPr id="154" name="Google Shape;154;p17"/>
          <p:cNvSpPr txBox="1"/>
          <p:nvPr/>
        </p:nvSpPr>
        <p:spPr>
          <a:xfrm>
            <a:off x="8413849" y="3576637"/>
            <a:ext cx="306710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73BB"/>
                </a:solidFill>
                <a:latin typeface="Poppins"/>
                <a:ea typeface="Poppins"/>
                <a:cs typeface="Poppins"/>
                <a:sym typeface="Poppins"/>
              </a:rPr>
              <a:t>Tier 3: Diagnostic</a:t>
            </a:r>
            <a:endParaRPr/>
          </a:p>
        </p:txBody>
      </p:sp>
      <p:sp>
        <p:nvSpPr>
          <p:cNvPr id="155" name="Google Shape;155;p17"/>
          <p:cNvSpPr txBox="1"/>
          <p:nvPr/>
        </p:nvSpPr>
        <p:spPr>
          <a:xfrm>
            <a:off x="8413849" y="4090987"/>
            <a:ext cx="2921049"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Verbose debug output. Short retention (3-7 days), low value.</a:t>
            </a:r>
            <a:endParaRPr/>
          </a:p>
        </p:txBody>
      </p:sp>
      <p:pic>
        <p:nvPicPr>
          <p:cNvPr id="156" name="Google Shape;156;p17" descr="image.png"/>
          <p:cNvPicPr preferRelativeResize="0"/>
          <p:nvPr/>
        </p:nvPicPr>
        <p:blipFill rotWithShape="1">
          <a:blip r:embed="rId7">
            <a:alphaModFix/>
          </a:blip>
          <a:srcRect/>
          <a:stretch/>
        </p:blipFill>
        <p:spPr>
          <a:xfrm>
            <a:off x="857250" y="3014662"/>
            <a:ext cx="381000" cy="381000"/>
          </a:xfrm>
          <a:prstGeom prst="rect">
            <a:avLst/>
          </a:prstGeom>
          <a:noFill/>
          <a:ln>
            <a:noFill/>
          </a:ln>
        </p:spPr>
      </p:pic>
      <p:pic>
        <p:nvPicPr>
          <p:cNvPr id="157" name="Google Shape;157;p17" descr="image.png"/>
          <p:cNvPicPr preferRelativeResize="0"/>
          <p:nvPr/>
        </p:nvPicPr>
        <p:blipFill rotWithShape="1">
          <a:blip r:embed="rId8">
            <a:alphaModFix/>
          </a:blip>
          <a:srcRect/>
          <a:stretch/>
        </p:blipFill>
        <p:spPr>
          <a:xfrm>
            <a:off x="4635549" y="3014662"/>
            <a:ext cx="381000" cy="381000"/>
          </a:xfrm>
          <a:prstGeom prst="rect">
            <a:avLst/>
          </a:prstGeom>
          <a:noFill/>
          <a:ln>
            <a:noFill/>
          </a:ln>
        </p:spPr>
      </p:pic>
      <p:pic>
        <p:nvPicPr>
          <p:cNvPr id="158" name="Google Shape;158;p17" descr="image.png"/>
          <p:cNvPicPr preferRelativeResize="0"/>
          <p:nvPr/>
        </p:nvPicPr>
        <p:blipFill rotWithShape="1">
          <a:blip r:embed="rId9">
            <a:alphaModFix/>
          </a:blip>
          <a:srcRect/>
          <a:stretch/>
        </p:blipFill>
        <p:spPr>
          <a:xfrm>
            <a:off x="8413849" y="3014662"/>
            <a:ext cx="381000" cy="381000"/>
          </a:xfrm>
          <a:prstGeom prst="rect">
            <a:avLst/>
          </a:prstGeom>
          <a:noFill/>
          <a:ln>
            <a:noFill/>
          </a:ln>
        </p:spPr>
      </p:pic>
      <p:sp>
        <p:nvSpPr>
          <p:cNvPr id="159" name="Google Shape;159;p17"/>
          <p:cNvSpPr txBox="1"/>
          <p:nvPr/>
        </p:nvSpPr>
        <p:spPr>
          <a:xfrm>
            <a:off x="762000" y="571500"/>
            <a:ext cx="11401500" cy="715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232F3E"/>
                </a:solidFill>
                <a:latin typeface="Poppins"/>
                <a:ea typeface="Poppins"/>
                <a:cs typeface="Poppins"/>
                <a:sym typeface="Poppins"/>
              </a:rPr>
              <a:t>The Three-Tier Log Hierarchy </a:t>
            </a:r>
            <a:endParaRPr sz="2850" b="1">
              <a:solidFill>
                <a:srgbClr val="232F3E"/>
              </a:solidFill>
              <a:latin typeface="Poppins"/>
              <a:ea typeface="Poppins"/>
              <a:cs typeface="Poppins"/>
              <a:sym typeface="Poppins"/>
            </a:endParaRPr>
          </a:p>
          <a:p>
            <a:pPr marL="0" marR="0" lvl="0" indent="0" algn="l" rtl="0">
              <a:spcBef>
                <a:spcPts val="0"/>
              </a:spcBef>
              <a:spcAft>
                <a:spcPts val="0"/>
              </a:spcAft>
              <a:buNone/>
            </a:pPr>
            <a:r>
              <a:rPr lang="en-US" sz="1800">
                <a:solidFill>
                  <a:srgbClr val="232F3E"/>
                </a:solidFill>
                <a:latin typeface="Poppins"/>
                <a:ea typeface="Poppins"/>
                <a:cs typeface="Poppins"/>
                <a:sym typeface="Poppins"/>
              </a:rPr>
              <a:t>Organizing and dividing logs</a:t>
            </a:r>
            <a:endParaRPr sz="1800">
              <a:solidFill>
                <a:srgbClr val="232F3E"/>
              </a:solidFill>
              <a:latin typeface="Poppins"/>
              <a:ea typeface="Poppins"/>
              <a:cs typeface="Poppins"/>
              <a:sym typeface="Poppins"/>
            </a:endParaRPr>
          </a:p>
        </p:txBody>
      </p:sp>
      <p:sp>
        <p:nvSpPr>
          <p:cNvPr id="160" name="Google Shape;160;p17"/>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89971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4"/>
        <p:cNvGrpSpPr/>
        <p:nvPr/>
      </p:nvGrpSpPr>
      <p:grpSpPr>
        <a:xfrm>
          <a:off x="0" y="0"/>
          <a:ext cx="0" cy="0"/>
          <a:chOff x="0" y="0"/>
          <a:chExt cx="0" cy="0"/>
        </a:xfrm>
      </p:grpSpPr>
      <p:pic>
        <p:nvPicPr>
          <p:cNvPr id="165" name="Google Shape;165;p18" descr="image.png"/>
          <p:cNvPicPr preferRelativeResize="0"/>
          <p:nvPr/>
        </p:nvPicPr>
        <p:blipFill rotWithShape="1">
          <a:blip r:embed="rId3">
            <a:alphaModFix/>
          </a:blip>
          <a:srcRect/>
          <a:stretch/>
        </p:blipFill>
        <p:spPr>
          <a:xfrm>
            <a:off x="0" y="4427"/>
            <a:ext cx="12192000" cy="6858000"/>
          </a:xfrm>
          <a:prstGeom prst="rect">
            <a:avLst/>
          </a:prstGeom>
          <a:noFill/>
          <a:ln>
            <a:noFill/>
          </a:ln>
        </p:spPr>
      </p:pic>
      <p:sp>
        <p:nvSpPr>
          <p:cNvPr id="166" name="Google Shape;166;p18"/>
          <p:cNvSpPr txBox="1"/>
          <p:nvPr/>
        </p:nvSpPr>
        <p:spPr>
          <a:xfrm>
            <a:off x="571500" y="2402432"/>
            <a:ext cx="4000500" cy="1616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500" b="1" i="0" u="none" strike="noStrike" cap="none" dirty="0">
                <a:solidFill>
                  <a:srgbClr val="FF9900"/>
                </a:solidFill>
                <a:latin typeface="Lato"/>
                <a:ea typeface="Lato"/>
                <a:cs typeface="Lato"/>
                <a:sym typeface="Lato"/>
              </a:rPr>
              <a:t>$1</a:t>
            </a:r>
            <a:r>
              <a:rPr lang="en-US" sz="10500" b="1" dirty="0">
                <a:solidFill>
                  <a:srgbClr val="FF9900"/>
                </a:solidFill>
                <a:latin typeface="Lato"/>
                <a:ea typeface="Lato"/>
                <a:cs typeface="Lato"/>
                <a:sym typeface="Lato"/>
              </a:rPr>
              <a:t>8</a:t>
            </a:r>
            <a:r>
              <a:rPr lang="en-US" sz="10500" b="1" i="0" u="none" strike="noStrike" cap="none" dirty="0">
                <a:solidFill>
                  <a:srgbClr val="FF9900"/>
                </a:solidFill>
                <a:latin typeface="Lato"/>
                <a:ea typeface="Lato"/>
                <a:cs typeface="Lato"/>
                <a:sym typeface="Lato"/>
              </a:rPr>
              <a:t>k</a:t>
            </a:r>
            <a:endParaRPr dirty="0"/>
          </a:p>
        </p:txBody>
      </p:sp>
      <p:sp>
        <p:nvSpPr>
          <p:cNvPr id="167" name="Google Shape;167;p18"/>
          <p:cNvSpPr txBox="1"/>
          <p:nvPr/>
        </p:nvSpPr>
        <p:spPr>
          <a:xfrm>
            <a:off x="762000" y="4018532"/>
            <a:ext cx="3048000" cy="738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dirty="0">
                <a:solidFill>
                  <a:srgbClr val="232F3E"/>
                </a:solidFill>
                <a:latin typeface="Lato"/>
                <a:ea typeface="Lato"/>
                <a:cs typeface="Lato"/>
                <a:sym typeface="Lato"/>
              </a:rPr>
              <a:t>Monthly Waste Potential</a:t>
            </a:r>
            <a:endParaRPr dirty="0"/>
          </a:p>
        </p:txBody>
      </p:sp>
      <p:sp>
        <p:nvSpPr>
          <p:cNvPr id="168" name="Google Shape;168;p18"/>
          <p:cNvSpPr txBox="1"/>
          <p:nvPr/>
        </p:nvSpPr>
        <p:spPr>
          <a:xfrm>
            <a:off x="4191000" y="2159793"/>
            <a:ext cx="7800975"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073BB"/>
                </a:solidFill>
                <a:latin typeface="Poppins"/>
                <a:ea typeface="Poppins"/>
                <a:cs typeface="Poppins"/>
                <a:sym typeface="Poppins"/>
              </a:rPr>
              <a:t>Forgotten Debug Logs</a:t>
            </a:r>
            <a:endParaRPr dirty="0"/>
          </a:p>
        </p:txBody>
      </p:sp>
      <p:sp>
        <p:nvSpPr>
          <p:cNvPr id="169" name="Google Shape;169;p18"/>
          <p:cNvSpPr txBox="1"/>
          <p:nvPr/>
        </p:nvSpPr>
        <p:spPr>
          <a:xfrm>
            <a:off x="4191000" y="2559843"/>
            <a:ext cx="74295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dirty="0">
                <a:solidFill>
                  <a:srgbClr val="444444"/>
                </a:solidFill>
                <a:latin typeface="Lato"/>
                <a:ea typeface="Lato"/>
                <a:cs typeface="Lato"/>
                <a:sym typeface="Lato"/>
              </a:rPr>
              <a:t>One e-commerce company discovered a five-figure bill caused by 40 Lambda functions logging at DEBUG level with no retention policy set.</a:t>
            </a:r>
            <a:endParaRPr dirty="0"/>
          </a:p>
        </p:txBody>
      </p:sp>
      <p:sp>
        <p:nvSpPr>
          <p:cNvPr id="170" name="Google Shape;170;p18"/>
          <p:cNvSpPr txBox="1"/>
          <p:nvPr/>
        </p:nvSpPr>
        <p:spPr>
          <a:xfrm>
            <a:off x="4191000" y="3371658"/>
            <a:ext cx="7429500" cy="12006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1" dirty="0">
                <a:solidFill>
                  <a:srgbClr val="444444"/>
                </a:solidFill>
                <a:latin typeface="Lato"/>
                <a:ea typeface="Lato"/>
                <a:cs typeface="Lato"/>
                <a:sym typeface="Lato"/>
              </a:rPr>
              <a:t>The fix</a:t>
            </a:r>
            <a:r>
              <a:rPr lang="en-US" sz="1500" dirty="0">
                <a:solidFill>
                  <a:srgbClr val="444444"/>
                </a:solidFill>
                <a:latin typeface="Lato"/>
                <a:ea typeface="Lato"/>
                <a:cs typeface="Lato"/>
                <a:sym typeface="Lato"/>
              </a:rPr>
              <a:t> takes one hour:  a Terraform module that sets </a:t>
            </a:r>
            <a:r>
              <a:rPr lang="en-US" sz="1500" dirty="0" err="1">
                <a:solidFill>
                  <a:srgbClr val="444444"/>
                </a:solidFill>
                <a:latin typeface="Lato"/>
                <a:ea typeface="Lato"/>
                <a:cs typeface="Lato"/>
                <a:sym typeface="Lato"/>
              </a:rPr>
              <a:t>retention_in_days</a:t>
            </a:r>
            <a:r>
              <a:rPr lang="en-US" sz="1500" dirty="0">
                <a:solidFill>
                  <a:srgbClr val="444444"/>
                </a:solidFill>
                <a:latin typeface="Lato"/>
                <a:ea typeface="Lato"/>
                <a:cs typeface="Lato"/>
                <a:sym typeface="Lato"/>
              </a:rPr>
              <a:t> on every log group. </a:t>
            </a:r>
            <a:endParaRPr sz="1500" dirty="0">
              <a:solidFill>
                <a:srgbClr val="444444"/>
              </a:solidFill>
              <a:latin typeface="Lato"/>
              <a:ea typeface="Lato"/>
              <a:cs typeface="Lato"/>
              <a:sym typeface="Lato"/>
            </a:endParaRPr>
          </a:p>
          <a:p>
            <a:pPr marL="0" marR="0" lvl="0" indent="0" algn="l" rtl="0">
              <a:lnSpc>
                <a:spcPct val="140000"/>
              </a:lnSpc>
              <a:spcBef>
                <a:spcPts val="0"/>
              </a:spcBef>
              <a:spcAft>
                <a:spcPts val="0"/>
              </a:spcAft>
              <a:buNone/>
            </a:pPr>
            <a:r>
              <a:rPr lang="en-US" sz="1500" b="1" dirty="0">
                <a:solidFill>
                  <a:srgbClr val="444444"/>
                </a:solidFill>
                <a:latin typeface="Lato"/>
                <a:ea typeface="Lato"/>
                <a:cs typeface="Lato"/>
                <a:sym typeface="Lato"/>
              </a:rPr>
              <a:t>Lesson: </a:t>
            </a:r>
            <a:r>
              <a:rPr lang="en-US" sz="1500" dirty="0">
                <a:solidFill>
                  <a:srgbClr val="444444"/>
                </a:solidFill>
                <a:latin typeface="Lato"/>
                <a:ea typeface="Lato"/>
                <a:cs typeface="Lato"/>
                <a:sym typeface="Lato"/>
              </a:rPr>
              <a:t>Default retention should be part of every infrastructure template, not an afterthought. </a:t>
            </a:r>
            <a:endParaRPr dirty="0"/>
          </a:p>
        </p:txBody>
      </p:sp>
      <p:sp>
        <p:nvSpPr>
          <p:cNvPr id="171" name="Google Shape;171;p18"/>
          <p:cNvSpPr txBox="1"/>
          <p:nvPr/>
        </p:nvSpPr>
        <p:spPr>
          <a:xfrm>
            <a:off x="762000" y="571500"/>
            <a:ext cx="1140142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232F3E"/>
                </a:solidFill>
                <a:latin typeface="Poppins"/>
                <a:ea typeface="Poppins"/>
                <a:cs typeface="Poppins"/>
                <a:sym typeface="Poppins"/>
              </a:rPr>
              <a:t>The Cost of Infinite Storage</a:t>
            </a:r>
            <a:endParaRPr/>
          </a:p>
        </p:txBody>
      </p:sp>
      <p:sp>
        <p:nvSpPr>
          <p:cNvPr id="172" name="Google Shape;172;p18"/>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6"/>
        <p:cNvGrpSpPr/>
        <p:nvPr/>
      </p:nvGrpSpPr>
      <p:grpSpPr>
        <a:xfrm>
          <a:off x="0" y="0"/>
          <a:ext cx="0" cy="0"/>
          <a:chOff x="0" y="0"/>
          <a:chExt cx="0" cy="0"/>
        </a:xfrm>
      </p:grpSpPr>
      <p:pic>
        <p:nvPicPr>
          <p:cNvPr id="177" name="Google Shape;177;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178" name="Google Shape;178;p19"/>
          <p:cNvGraphicFramePr/>
          <p:nvPr/>
        </p:nvGraphicFramePr>
        <p:xfrm>
          <a:off x="571500" y="2605087"/>
          <a:ext cx="11048975" cy="2571750"/>
        </p:xfrm>
        <a:graphic>
          <a:graphicData uri="http://schemas.openxmlformats.org/drawingml/2006/table">
            <a:tbl>
              <a:tblPr firstRow="1" bandRow="1">
                <a:noFill/>
                <a:tableStyleId>{3796CCCC-D195-4ECD-B664-7D1EE737A1EF}</a:tableStyleId>
              </a:tblPr>
              <a:tblGrid>
                <a:gridCol w="3704925">
                  <a:extLst>
                    <a:ext uri="{9D8B030D-6E8A-4147-A177-3AD203B41FA5}">
                      <a16:colId xmlns:a16="http://schemas.microsoft.com/office/drawing/2014/main" val="20000"/>
                    </a:ext>
                  </a:extLst>
                </a:gridCol>
                <a:gridCol w="3021350">
                  <a:extLst>
                    <a:ext uri="{9D8B030D-6E8A-4147-A177-3AD203B41FA5}">
                      <a16:colId xmlns:a16="http://schemas.microsoft.com/office/drawing/2014/main" val="20001"/>
                    </a:ext>
                  </a:extLst>
                </a:gridCol>
                <a:gridCol w="4322700">
                  <a:extLst>
                    <a:ext uri="{9D8B030D-6E8A-4147-A177-3AD203B41FA5}">
                      <a16:colId xmlns:a16="http://schemas.microsoft.com/office/drawing/2014/main" val="20002"/>
                    </a:ext>
                  </a:extLst>
                </a:gridCol>
              </a:tblGrid>
              <a:tr h="514350">
                <a:tc>
                  <a:txBody>
                    <a:bodyPr/>
                    <a:lstStyle/>
                    <a:p>
                      <a:pPr marL="0" marR="0" lvl="0" indent="0" algn="l" rtl="0">
                        <a:spcBef>
                          <a:spcPts val="0"/>
                        </a:spcBef>
                        <a:spcAft>
                          <a:spcPts val="0"/>
                        </a:spcAft>
                        <a:buNone/>
                      </a:pPr>
                      <a:r>
                        <a:rPr lang="en-US" sz="1500" b="1" i="0" u="none" strike="noStrike" cap="none">
                          <a:solidFill>
                            <a:srgbClr val="FFFFFF"/>
                          </a:solidFill>
                          <a:latin typeface="Lato"/>
                          <a:ea typeface="Lato"/>
                          <a:cs typeface="Lato"/>
                          <a:sym typeface="Lato"/>
                        </a:rPr>
                        <a:t>Category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32F3E"/>
                    </a:solidFill>
                  </a:tcPr>
                </a:tc>
                <a:tc>
                  <a:txBody>
                    <a:bodyPr/>
                    <a:lstStyle/>
                    <a:p>
                      <a:pPr marL="0" marR="0" lvl="0" indent="0" algn="l" rtl="0">
                        <a:spcBef>
                          <a:spcPts val="0"/>
                        </a:spcBef>
                        <a:spcAft>
                          <a:spcPts val="0"/>
                        </a:spcAft>
                        <a:buNone/>
                      </a:pPr>
                      <a:r>
                        <a:rPr lang="en-US" sz="1500" b="1" i="0" u="none" strike="noStrike" cap="none">
                          <a:solidFill>
                            <a:srgbClr val="FFFFFF"/>
                          </a:solidFill>
                          <a:latin typeface="Lato"/>
                          <a:ea typeface="Lato"/>
                          <a:cs typeface="Lato"/>
                          <a:sym typeface="Lato"/>
                        </a:rPr>
                        <a:t>Hot Storage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32F3E"/>
                    </a:solidFill>
                  </a:tcPr>
                </a:tc>
                <a:tc>
                  <a:txBody>
                    <a:bodyPr/>
                    <a:lstStyle/>
                    <a:p>
                      <a:pPr marL="0" marR="0" lvl="0" indent="0" algn="l" rtl="0">
                        <a:spcBef>
                          <a:spcPts val="0"/>
                        </a:spcBef>
                        <a:spcAft>
                          <a:spcPts val="0"/>
                        </a:spcAft>
                        <a:buNone/>
                      </a:pPr>
                      <a:r>
                        <a:rPr lang="en-US" sz="1500" b="1" i="0" u="none" strike="noStrike" cap="none">
                          <a:solidFill>
                            <a:srgbClr val="FFFFFF"/>
                          </a:solidFill>
                          <a:latin typeface="Lato"/>
                          <a:ea typeface="Lato"/>
                          <a:cs typeface="Lato"/>
                          <a:sym typeface="Lato"/>
                        </a:rPr>
                        <a:t>Cold Archive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232F3E"/>
                    </a:solidFill>
                  </a:tcPr>
                </a:tc>
                <a:extLst>
                  <a:ext uri="{0D108BD9-81ED-4DB2-BD59-A6C34878D82A}">
                    <a16:rowId xmlns:a16="http://schemas.microsoft.com/office/drawing/2014/main" val="10000"/>
                  </a:ext>
                </a:extLst>
              </a:tr>
              <a:tr h="514350">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CloudTrail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N/A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Indefinite (Glacier)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14350">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Security Events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90 Days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1-2 Years (S3 IA)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extLst>
                  <a:ext uri="{0D108BD9-81ED-4DB2-BD59-A6C34878D82A}">
                    <a16:rowId xmlns:a16="http://schemas.microsoft.com/office/drawing/2014/main" val="10002"/>
                  </a:ext>
                </a:extLst>
              </a:tr>
              <a:tr h="514350">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App Logs (Prod)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30 Days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1 Year (Glacier)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14350">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Debug Logs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3 Days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tc>
                  <a:txBody>
                    <a:bodyPr/>
                    <a:lstStyle/>
                    <a:p>
                      <a:pPr marL="0" marR="0" lvl="0" indent="0" algn="l" rtl="0">
                        <a:spcBef>
                          <a:spcPts val="0"/>
                        </a:spcBef>
                        <a:spcAft>
                          <a:spcPts val="0"/>
                        </a:spcAft>
                        <a:buNone/>
                      </a:pPr>
                      <a:r>
                        <a:rPr lang="en-US" sz="1500" b="0" i="0" u="none" strike="noStrike" cap="none">
                          <a:solidFill>
                            <a:srgbClr val="444444"/>
                          </a:solidFill>
                          <a:latin typeface="Lato"/>
                          <a:ea typeface="Lato"/>
                          <a:cs typeface="Lato"/>
                          <a:sym typeface="Lato"/>
                        </a:rPr>
                        <a:t>Expire Immediately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AFAFA"/>
                    </a:solidFill>
                  </a:tcPr>
                </a:tc>
                <a:extLst>
                  <a:ext uri="{0D108BD9-81ED-4DB2-BD59-A6C34878D82A}">
                    <a16:rowId xmlns:a16="http://schemas.microsoft.com/office/drawing/2014/main" val="10004"/>
                  </a:ext>
                </a:extLst>
              </a:tr>
            </a:tbl>
          </a:graphicData>
        </a:graphic>
      </p:graphicFrame>
      <p:sp>
        <p:nvSpPr>
          <p:cNvPr id="179" name="Google Shape;179;p19"/>
          <p:cNvSpPr/>
          <p:nvPr/>
        </p:nvSpPr>
        <p:spPr>
          <a:xfrm>
            <a:off x="571500" y="3648075"/>
            <a:ext cx="370492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0" name="Google Shape;180;p19"/>
          <p:cNvSpPr/>
          <p:nvPr/>
        </p:nvSpPr>
        <p:spPr>
          <a:xfrm>
            <a:off x="4276427" y="3648075"/>
            <a:ext cx="302135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19"/>
          <p:cNvSpPr/>
          <p:nvPr/>
        </p:nvSpPr>
        <p:spPr>
          <a:xfrm>
            <a:off x="7297787" y="3648075"/>
            <a:ext cx="4322712"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2" name="Google Shape;182;p19"/>
          <p:cNvSpPr/>
          <p:nvPr/>
        </p:nvSpPr>
        <p:spPr>
          <a:xfrm>
            <a:off x="571500" y="4152900"/>
            <a:ext cx="370492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3" name="Google Shape;183;p19"/>
          <p:cNvSpPr/>
          <p:nvPr/>
        </p:nvSpPr>
        <p:spPr>
          <a:xfrm>
            <a:off x="4276427" y="4152900"/>
            <a:ext cx="302135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19"/>
          <p:cNvSpPr/>
          <p:nvPr/>
        </p:nvSpPr>
        <p:spPr>
          <a:xfrm>
            <a:off x="7297787" y="4152900"/>
            <a:ext cx="4322712"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19"/>
          <p:cNvSpPr/>
          <p:nvPr/>
        </p:nvSpPr>
        <p:spPr>
          <a:xfrm>
            <a:off x="571500" y="4657725"/>
            <a:ext cx="370492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9"/>
          <p:cNvSpPr/>
          <p:nvPr/>
        </p:nvSpPr>
        <p:spPr>
          <a:xfrm>
            <a:off x="4276427" y="4657725"/>
            <a:ext cx="302135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19"/>
          <p:cNvSpPr/>
          <p:nvPr/>
        </p:nvSpPr>
        <p:spPr>
          <a:xfrm>
            <a:off x="7297787" y="4657725"/>
            <a:ext cx="4322712"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8" name="Google Shape;188;p19"/>
          <p:cNvSpPr/>
          <p:nvPr/>
        </p:nvSpPr>
        <p:spPr>
          <a:xfrm>
            <a:off x="571500" y="5162550"/>
            <a:ext cx="3704927"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9" name="Google Shape;189;p19"/>
          <p:cNvSpPr/>
          <p:nvPr/>
        </p:nvSpPr>
        <p:spPr>
          <a:xfrm>
            <a:off x="4276427" y="5162550"/>
            <a:ext cx="3021359"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0" name="Google Shape;190;p19"/>
          <p:cNvSpPr/>
          <p:nvPr/>
        </p:nvSpPr>
        <p:spPr>
          <a:xfrm>
            <a:off x="7297787" y="5162550"/>
            <a:ext cx="4322712" cy="9525"/>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19"/>
          <p:cNvSpPr txBox="1"/>
          <p:nvPr/>
        </p:nvSpPr>
        <p:spPr>
          <a:xfrm>
            <a:off x="762000" y="571500"/>
            <a:ext cx="1140142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232F3E"/>
                </a:solidFill>
                <a:latin typeface="Poppins"/>
                <a:ea typeface="Poppins"/>
                <a:cs typeface="Poppins"/>
                <a:sym typeface="Poppins"/>
              </a:rPr>
              <a:t>Recommended Retention Strategy</a:t>
            </a:r>
            <a:endParaRPr/>
          </a:p>
        </p:txBody>
      </p:sp>
      <p:sp>
        <p:nvSpPr>
          <p:cNvPr id="192" name="Google Shape;192;p19"/>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6"/>
        <p:cNvGrpSpPr/>
        <p:nvPr/>
      </p:nvGrpSpPr>
      <p:grpSpPr>
        <a:xfrm>
          <a:off x="0" y="0"/>
          <a:ext cx="0" cy="0"/>
          <a:chOff x="0" y="0"/>
          <a:chExt cx="0" cy="0"/>
        </a:xfrm>
      </p:grpSpPr>
      <p:pic>
        <p:nvPicPr>
          <p:cNvPr id="197" name="Google Shape;197;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8" name="Google Shape;198;p20" descr="image.png"/>
          <p:cNvPicPr preferRelativeResize="0"/>
          <p:nvPr/>
        </p:nvPicPr>
        <p:blipFill rotWithShape="1">
          <a:blip r:embed="rId4">
            <a:alphaModFix/>
          </a:blip>
          <a:srcRect/>
          <a:stretch/>
        </p:blipFill>
        <p:spPr>
          <a:xfrm>
            <a:off x="6286500" y="1985962"/>
            <a:ext cx="5334000" cy="3810000"/>
          </a:xfrm>
          <a:prstGeom prst="rect">
            <a:avLst/>
          </a:prstGeom>
          <a:noFill/>
          <a:ln>
            <a:noFill/>
          </a:ln>
        </p:spPr>
      </p:pic>
      <p:sp>
        <p:nvSpPr>
          <p:cNvPr id="199" name="Google Shape;199;p20"/>
          <p:cNvSpPr txBox="1"/>
          <p:nvPr/>
        </p:nvSpPr>
        <p:spPr>
          <a:xfrm>
            <a:off x="571500" y="3214687"/>
            <a:ext cx="53340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Storing logs is not monitoring. Monitoring is the active process of extracting signal from raw data.</a:t>
            </a:r>
            <a:endParaRPr/>
          </a:p>
        </p:txBody>
      </p:sp>
      <p:sp>
        <p:nvSpPr>
          <p:cNvPr id="200" name="Google Shape;200;p20"/>
          <p:cNvSpPr txBox="1"/>
          <p:nvPr/>
        </p:nvSpPr>
        <p:spPr>
          <a:xfrm>
            <a:off x="571500" y="3890962"/>
            <a:ext cx="5334000" cy="5334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Avoid </a:t>
            </a:r>
            <a:r>
              <a:rPr lang="en-US" sz="1500" b="1" i="0" u="none" strike="noStrike" cap="none">
                <a:solidFill>
                  <a:srgbClr val="444444"/>
                </a:solidFill>
                <a:latin typeface="Lato"/>
                <a:ea typeface="Lato"/>
                <a:cs typeface="Lato"/>
                <a:sym typeface="Lato"/>
              </a:rPr>
              <a:t>Silent Failures</a:t>
            </a:r>
            <a:r>
              <a:rPr lang="en-US" sz="1500" b="0" i="0" u="none" strike="noStrike" cap="none">
                <a:solidFill>
                  <a:srgbClr val="444444"/>
                </a:solidFill>
                <a:latin typeface="Lato"/>
                <a:ea typeface="Lato"/>
                <a:cs typeface="Lato"/>
                <a:sym typeface="Lato"/>
              </a:rPr>
              <a:t>: Users might report "broken" features for weeks before a bug is found if alerts only track CPU/Memory.</a:t>
            </a:r>
            <a:endParaRPr/>
          </a:p>
        </p:txBody>
      </p:sp>
      <p:pic>
        <p:nvPicPr>
          <p:cNvPr id="201" name="Google Shape;201;p20" descr="image.png"/>
          <p:cNvPicPr preferRelativeResize="0"/>
          <p:nvPr/>
        </p:nvPicPr>
        <p:blipFill rotWithShape="1">
          <a:blip r:embed="rId5">
            <a:alphaModFix/>
          </a:blip>
          <a:srcRect/>
          <a:stretch/>
        </p:blipFill>
        <p:spPr>
          <a:xfrm>
            <a:off x="7239000" y="2176462"/>
            <a:ext cx="3429000" cy="3429000"/>
          </a:xfrm>
          <a:prstGeom prst="rect">
            <a:avLst/>
          </a:prstGeom>
          <a:noFill/>
          <a:ln>
            <a:noFill/>
          </a:ln>
        </p:spPr>
      </p:pic>
      <p:sp>
        <p:nvSpPr>
          <p:cNvPr id="202" name="Google Shape;202;p20"/>
          <p:cNvSpPr txBox="1"/>
          <p:nvPr/>
        </p:nvSpPr>
        <p:spPr>
          <a:xfrm>
            <a:off x="762000" y="571500"/>
            <a:ext cx="1140142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232F3E"/>
                </a:solidFill>
                <a:latin typeface="Poppins"/>
                <a:ea typeface="Poppins"/>
                <a:cs typeface="Poppins"/>
                <a:sym typeface="Poppins"/>
              </a:rPr>
              <a:t>Monitoring: Data to Signal</a:t>
            </a:r>
            <a:endParaRPr/>
          </a:p>
        </p:txBody>
      </p:sp>
      <p:sp>
        <p:nvSpPr>
          <p:cNvPr id="203" name="Google Shape;203;p20"/>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7"/>
        <p:cNvGrpSpPr/>
        <p:nvPr/>
      </p:nvGrpSpPr>
      <p:grpSpPr>
        <a:xfrm>
          <a:off x="0" y="0"/>
          <a:ext cx="0" cy="0"/>
          <a:chOff x="0" y="0"/>
          <a:chExt cx="0" cy="0"/>
        </a:xfrm>
      </p:grpSpPr>
      <p:pic>
        <p:nvPicPr>
          <p:cNvPr id="208" name="Google Shape;208;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9" name="Google Shape;209;p21"/>
          <p:cNvSpPr txBox="1"/>
          <p:nvPr/>
        </p:nvSpPr>
        <p:spPr>
          <a:xfrm>
            <a:off x="1381125" y="3052762"/>
            <a:ext cx="10239375" cy="266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1" i="0" u="none" strike="noStrike" cap="none">
                <a:solidFill>
                  <a:srgbClr val="444444"/>
                </a:solidFill>
                <a:latin typeface="Lato"/>
                <a:ea typeface="Lato"/>
                <a:cs typeface="Lato"/>
                <a:sym typeface="Lato"/>
              </a:rPr>
              <a:t>HTTP 5xx Errors:</a:t>
            </a:r>
            <a:r>
              <a:rPr lang="en-US" sz="1500" b="0" i="0" u="none" strike="noStrike" cap="none">
                <a:solidFill>
                  <a:srgbClr val="444444"/>
                </a:solidFill>
                <a:latin typeface="Lato"/>
                <a:ea typeface="Lato"/>
                <a:cs typeface="Lato"/>
                <a:sym typeface="Lato"/>
              </a:rPr>
              <a:t> Track server-side crashes to trigger P1 alerts immediately.</a:t>
            </a:r>
            <a:endParaRPr/>
          </a:p>
        </p:txBody>
      </p:sp>
      <p:sp>
        <p:nvSpPr>
          <p:cNvPr id="210" name="Google Shape;210;p21"/>
          <p:cNvSpPr txBox="1"/>
          <p:nvPr/>
        </p:nvSpPr>
        <p:spPr>
          <a:xfrm>
            <a:off x="1381125" y="3509962"/>
            <a:ext cx="10239375" cy="266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1" i="0" u="none" strike="noStrike" cap="none">
                <a:solidFill>
                  <a:srgbClr val="444444"/>
                </a:solidFill>
                <a:latin typeface="Lato"/>
                <a:ea typeface="Lato"/>
                <a:cs typeface="Lato"/>
                <a:sym typeface="Lato"/>
              </a:rPr>
              <a:t>Lambda Cold Starts:</a:t>
            </a:r>
            <a:r>
              <a:rPr lang="en-US" sz="1500" b="0" i="0" u="none" strike="noStrike" cap="none">
                <a:solidFill>
                  <a:srgbClr val="444444"/>
                </a:solidFill>
                <a:latin typeface="Lato"/>
                <a:ea typeface="Lato"/>
                <a:cs typeface="Lato"/>
                <a:sym typeface="Lato"/>
              </a:rPr>
              <a:t> Monitor init duration patterns to optimize performance.</a:t>
            </a:r>
            <a:endParaRPr/>
          </a:p>
        </p:txBody>
      </p:sp>
      <p:sp>
        <p:nvSpPr>
          <p:cNvPr id="211" name="Google Shape;211;p21"/>
          <p:cNvSpPr txBox="1"/>
          <p:nvPr/>
        </p:nvSpPr>
        <p:spPr>
          <a:xfrm>
            <a:off x="1381125" y="3967162"/>
            <a:ext cx="10239375" cy="266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1" i="0" u="none" strike="noStrike" cap="none">
                <a:solidFill>
                  <a:srgbClr val="444444"/>
                </a:solidFill>
                <a:latin typeface="Lato"/>
                <a:ea typeface="Lato"/>
                <a:cs typeface="Lato"/>
                <a:sym typeface="Lato"/>
              </a:rPr>
              <a:t>IAM AccessDenied:</a:t>
            </a:r>
            <a:r>
              <a:rPr lang="en-US" sz="1500" b="0" i="0" u="none" strike="noStrike" cap="none">
                <a:solidFill>
                  <a:srgbClr val="444444"/>
                </a:solidFill>
                <a:latin typeface="Lato"/>
                <a:ea typeface="Lato"/>
                <a:cs typeface="Lato"/>
                <a:sym typeface="Lato"/>
              </a:rPr>
              <a:t> Detect credential compromise or misconfigurations in real-time.</a:t>
            </a:r>
            <a:endParaRPr/>
          </a:p>
        </p:txBody>
      </p:sp>
      <p:sp>
        <p:nvSpPr>
          <p:cNvPr id="212" name="Google Shape;212;p21"/>
          <p:cNvSpPr txBox="1"/>
          <p:nvPr/>
        </p:nvSpPr>
        <p:spPr>
          <a:xfrm>
            <a:off x="1381125" y="4424362"/>
            <a:ext cx="10239375" cy="2667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1" i="0" u="none" strike="noStrike" cap="none">
                <a:solidFill>
                  <a:srgbClr val="444444"/>
                </a:solidFill>
                <a:latin typeface="Lato"/>
                <a:ea typeface="Lato"/>
                <a:cs typeface="Lato"/>
                <a:sym typeface="Lato"/>
              </a:rPr>
              <a:t>Ingestion Drops:</a:t>
            </a:r>
            <a:r>
              <a:rPr lang="en-US" sz="1500" b="0" i="0" u="none" strike="noStrike" cap="none">
                <a:solidFill>
                  <a:srgbClr val="444444"/>
                </a:solidFill>
                <a:latin typeface="Lato"/>
                <a:ea typeface="Lato"/>
                <a:cs typeface="Lato"/>
                <a:sym typeface="Lato"/>
              </a:rPr>
              <a:t> Alert if log flow stops, indicating a broken agent or pipeline.</a:t>
            </a:r>
            <a:endParaRPr/>
          </a:p>
        </p:txBody>
      </p:sp>
      <p:pic>
        <p:nvPicPr>
          <p:cNvPr id="213" name="Google Shape;213;p21" descr="image.png"/>
          <p:cNvPicPr preferRelativeResize="0"/>
          <p:nvPr/>
        </p:nvPicPr>
        <p:blipFill rotWithShape="1">
          <a:blip r:embed="rId4">
            <a:alphaModFix/>
          </a:blip>
          <a:srcRect/>
          <a:stretch/>
        </p:blipFill>
        <p:spPr>
          <a:xfrm>
            <a:off x="952500" y="3081337"/>
            <a:ext cx="228600" cy="247650"/>
          </a:xfrm>
          <a:prstGeom prst="rect">
            <a:avLst/>
          </a:prstGeom>
          <a:noFill/>
          <a:ln>
            <a:noFill/>
          </a:ln>
        </p:spPr>
      </p:pic>
      <p:pic>
        <p:nvPicPr>
          <p:cNvPr id="214" name="Google Shape;214;p21" descr="image.png"/>
          <p:cNvPicPr preferRelativeResize="0"/>
          <p:nvPr/>
        </p:nvPicPr>
        <p:blipFill rotWithShape="1">
          <a:blip r:embed="rId5">
            <a:alphaModFix/>
          </a:blip>
          <a:srcRect/>
          <a:stretch/>
        </p:blipFill>
        <p:spPr>
          <a:xfrm>
            <a:off x="952500" y="3538537"/>
            <a:ext cx="200025" cy="247650"/>
          </a:xfrm>
          <a:prstGeom prst="rect">
            <a:avLst/>
          </a:prstGeom>
          <a:noFill/>
          <a:ln>
            <a:noFill/>
          </a:ln>
        </p:spPr>
      </p:pic>
      <p:pic>
        <p:nvPicPr>
          <p:cNvPr id="215" name="Google Shape;215;p21" descr="image.png"/>
          <p:cNvPicPr preferRelativeResize="0"/>
          <p:nvPr/>
        </p:nvPicPr>
        <p:blipFill rotWithShape="1">
          <a:blip r:embed="rId6">
            <a:alphaModFix/>
          </a:blip>
          <a:srcRect/>
          <a:stretch/>
        </p:blipFill>
        <p:spPr>
          <a:xfrm>
            <a:off x="952500" y="3995737"/>
            <a:ext cx="285750" cy="247650"/>
          </a:xfrm>
          <a:prstGeom prst="rect">
            <a:avLst/>
          </a:prstGeom>
          <a:noFill/>
          <a:ln>
            <a:noFill/>
          </a:ln>
        </p:spPr>
      </p:pic>
      <p:pic>
        <p:nvPicPr>
          <p:cNvPr id="216" name="Google Shape;216;p21" descr="image.png"/>
          <p:cNvPicPr preferRelativeResize="0"/>
          <p:nvPr/>
        </p:nvPicPr>
        <p:blipFill rotWithShape="1">
          <a:blip r:embed="rId7">
            <a:alphaModFix/>
          </a:blip>
          <a:srcRect/>
          <a:stretch/>
        </p:blipFill>
        <p:spPr>
          <a:xfrm>
            <a:off x="952500" y="4452937"/>
            <a:ext cx="228600" cy="247650"/>
          </a:xfrm>
          <a:prstGeom prst="rect">
            <a:avLst/>
          </a:prstGeom>
          <a:noFill/>
          <a:ln>
            <a:noFill/>
          </a:ln>
        </p:spPr>
      </p:pic>
      <p:sp>
        <p:nvSpPr>
          <p:cNvPr id="217" name="Google Shape;217;p21"/>
          <p:cNvSpPr txBox="1"/>
          <p:nvPr/>
        </p:nvSpPr>
        <p:spPr>
          <a:xfrm>
            <a:off x="762000" y="571500"/>
            <a:ext cx="1140142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232F3E"/>
                </a:solidFill>
                <a:latin typeface="Poppins"/>
                <a:ea typeface="Poppins"/>
                <a:cs typeface="Poppins"/>
                <a:sym typeface="Poppins"/>
              </a:rPr>
              <a:t>Metric Filters to Implement</a:t>
            </a:r>
            <a:endParaRPr/>
          </a:p>
        </p:txBody>
      </p:sp>
      <p:sp>
        <p:nvSpPr>
          <p:cNvPr id="218" name="Google Shape;218;p21"/>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2"/>
        <p:cNvGrpSpPr/>
        <p:nvPr/>
      </p:nvGrpSpPr>
      <p:grpSpPr>
        <a:xfrm>
          <a:off x="0" y="0"/>
          <a:ext cx="0" cy="0"/>
          <a:chOff x="0" y="0"/>
          <a:chExt cx="0" cy="0"/>
        </a:xfrm>
      </p:grpSpPr>
      <p:pic>
        <p:nvPicPr>
          <p:cNvPr id="223" name="Google Shape;223;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4" name="Google Shape;224;p22" descr="image.png"/>
          <p:cNvPicPr preferRelativeResize="0"/>
          <p:nvPr/>
        </p:nvPicPr>
        <p:blipFill rotWithShape="1">
          <a:blip r:embed="rId4">
            <a:alphaModFix/>
          </a:blip>
          <a:srcRect/>
          <a:stretch/>
        </p:blipFill>
        <p:spPr>
          <a:xfrm>
            <a:off x="571500" y="2557462"/>
            <a:ext cx="3492549" cy="2667000"/>
          </a:xfrm>
          <a:prstGeom prst="rect">
            <a:avLst/>
          </a:prstGeom>
          <a:noFill/>
          <a:ln>
            <a:noFill/>
          </a:ln>
        </p:spPr>
      </p:pic>
      <p:pic>
        <p:nvPicPr>
          <p:cNvPr id="225" name="Google Shape;225;p22" descr="image.png"/>
          <p:cNvPicPr preferRelativeResize="0"/>
          <p:nvPr/>
        </p:nvPicPr>
        <p:blipFill rotWithShape="1">
          <a:blip r:embed="rId5">
            <a:alphaModFix/>
          </a:blip>
          <a:srcRect/>
          <a:stretch/>
        </p:blipFill>
        <p:spPr>
          <a:xfrm>
            <a:off x="4349799" y="2557462"/>
            <a:ext cx="3492549" cy="2667000"/>
          </a:xfrm>
          <a:prstGeom prst="rect">
            <a:avLst/>
          </a:prstGeom>
          <a:noFill/>
          <a:ln>
            <a:noFill/>
          </a:ln>
        </p:spPr>
      </p:pic>
      <p:pic>
        <p:nvPicPr>
          <p:cNvPr id="226" name="Google Shape;226;p22" descr="image.png"/>
          <p:cNvPicPr preferRelativeResize="0"/>
          <p:nvPr/>
        </p:nvPicPr>
        <p:blipFill rotWithShape="1">
          <a:blip r:embed="rId6">
            <a:alphaModFix/>
          </a:blip>
          <a:srcRect/>
          <a:stretch/>
        </p:blipFill>
        <p:spPr>
          <a:xfrm>
            <a:off x="8128099" y="2557462"/>
            <a:ext cx="3492549" cy="2667000"/>
          </a:xfrm>
          <a:prstGeom prst="rect">
            <a:avLst/>
          </a:prstGeom>
          <a:noFill/>
          <a:ln>
            <a:noFill/>
          </a:ln>
        </p:spPr>
      </p:pic>
      <p:sp>
        <p:nvSpPr>
          <p:cNvPr id="227" name="Google Shape;227;p22"/>
          <p:cNvSpPr txBox="1"/>
          <p:nvPr/>
        </p:nvSpPr>
        <p:spPr>
          <a:xfrm>
            <a:off x="857250" y="3443287"/>
            <a:ext cx="306710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73BB"/>
                </a:solidFill>
                <a:latin typeface="Poppins"/>
                <a:ea typeface="Poppins"/>
                <a:cs typeface="Poppins"/>
                <a:sym typeface="Poppins"/>
              </a:rPr>
              <a:t>Cost Explosion</a:t>
            </a:r>
            <a:endParaRPr/>
          </a:p>
        </p:txBody>
      </p:sp>
      <p:sp>
        <p:nvSpPr>
          <p:cNvPr id="228" name="Google Shape;228;p22"/>
          <p:cNvSpPr txBox="1"/>
          <p:nvPr/>
        </p:nvSpPr>
        <p:spPr>
          <a:xfrm>
            <a:off x="857250" y="3957637"/>
            <a:ext cx="2921049" cy="8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CloudWatch ingestion is expensive ($0.50/GB). Use EMF or S3 directly for high volume.</a:t>
            </a:r>
            <a:endParaRPr/>
          </a:p>
        </p:txBody>
      </p:sp>
      <p:sp>
        <p:nvSpPr>
          <p:cNvPr id="229" name="Google Shape;229;p22"/>
          <p:cNvSpPr txBox="1"/>
          <p:nvPr/>
        </p:nvSpPr>
        <p:spPr>
          <a:xfrm>
            <a:off x="4635549" y="3443287"/>
            <a:ext cx="306710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73BB"/>
                </a:solidFill>
                <a:latin typeface="Poppins"/>
                <a:ea typeface="Poppins"/>
                <a:cs typeface="Poppins"/>
                <a:sym typeface="Poppins"/>
              </a:rPr>
              <a:t>Log Loss</a:t>
            </a:r>
            <a:endParaRPr/>
          </a:p>
        </p:txBody>
      </p:sp>
      <p:sp>
        <p:nvSpPr>
          <p:cNvPr id="230" name="Google Shape;230;p22"/>
          <p:cNvSpPr txBox="1"/>
          <p:nvPr/>
        </p:nvSpPr>
        <p:spPr>
          <a:xfrm>
            <a:off x="4635549" y="3957637"/>
            <a:ext cx="2921049" cy="8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Gaps are invisible unless monitored. Use "log heartbeat" metrics for integrity.</a:t>
            </a:r>
            <a:endParaRPr/>
          </a:p>
        </p:txBody>
      </p:sp>
      <p:sp>
        <p:nvSpPr>
          <p:cNvPr id="231" name="Google Shape;231;p22"/>
          <p:cNvSpPr txBox="1"/>
          <p:nvPr/>
        </p:nvSpPr>
        <p:spPr>
          <a:xfrm>
            <a:off x="8413849" y="3443287"/>
            <a:ext cx="3067102"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73BB"/>
                </a:solidFill>
                <a:latin typeface="Poppins"/>
                <a:ea typeface="Poppins"/>
                <a:cs typeface="Poppins"/>
                <a:sym typeface="Poppins"/>
              </a:rPr>
              <a:t>Security</a:t>
            </a:r>
            <a:endParaRPr/>
          </a:p>
        </p:txBody>
      </p:sp>
      <p:sp>
        <p:nvSpPr>
          <p:cNvPr id="232" name="Google Shape;232;p22"/>
          <p:cNvSpPr txBox="1"/>
          <p:nvPr/>
        </p:nvSpPr>
        <p:spPr>
          <a:xfrm>
            <a:off x="8413849" y="3957637"/>
            <a:ext cx="2921049" cy="8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444444"/>
                </a:solidFill>
                <a:latin typeface="Lato"/>
                <a:ea typeface="Lato"/>
                <a:cs typeface="Lato"/>
                <a:sym typeface="Lato"/>
              </a:rPr>
              <a:t>Logs contain PII and keys. Use S3 Object Lock and KMS for encryption.</a:t>
            </a:r>
            <a:endParaRPr/>
          </a:p>
        </p:txBody>
      </p:sp>
      <p:pic>
        <p:nvPicPr>
          <p:cNvPr id="233" name="Google Shape;233;p22" descr="image.png"/>
          <p:cNvPicPr preferRelativeResize="0"/>
          <p:nvPr/>
        </p:nvPicPr>
        <p:blipFill rotWithShape="1">
          <a:blip r:embed="rId7">
            <a:alphaModFix/>
          </a:blip>
          <a:srcRect/>
          <a:stretch/>
        </p:blipFill>
        <p:spPr>
          <a:xfrm>
            <a:off x="857250" y="2881312"/>
            <a:ext cx="381000" cy="381000"/>
          </a:xfrm>
          <a:prstGeom prst="rect">
            <a:avLst/>
          </a:prstGeom>
          <a:noFill/>
          <a:ln>
            <a:noFill/>
          </a:ln>
        </p:spPr>
      </p:pic>
      <p:pic>
        <p:nvPicPr>
          <p:cNvPr id="234" name="Google Shape;234;p22" descr="image.png"/>
          <p:cNvPicPr preferRelativeResize="0"/>
          <p:nvPr/>
        </p:nvPicPr>
        <p:blipFill rotWithShape="1">
          <a:blip r:embed="rId8">
            <a:alphaModFix/>
          </a:blip>
          <a:srcRect/>
          <a:stretch/>
        </p:blipFill>
        <p:spPr>
          <a:xfrm>
            <a:off x="4635549" y="2881312"/>
            <a:ext cx="476250" cy="381000"/>
          </a:xfrm>
          <a:prstGeom prst="rect">
            <a:avLst/>
          </a:prstGeom>
          <a:noFill/>
          <a:ln>
            <a:noFill/>
          </a:ln>
        </p:spPr>
      </p:pic>
      <p:pic>
        <p:nvPicPr>
          <p:cNvPr id="235" name="Google Shape;235;p22" descr="image.png"/>
          <p:cNvPicPr preferRelativeResize="0"/>
          <p:nvPr/>
        </p:nvPicPr>
        <p:blipFill rotWithShape="1">
          <a:blip r:embed="rId9">
            <a:alphaModFix/>
          </a:blip>
          <a:srcRect/>
          <a:stretch/>
        </p:blipFill>
        <p:spPr>
          <a:xfrm>
            <a:off x="8413849" y="2881312"/>
            <a:ext cx="476250" cy="381000"/>
          </a:xfrm>
          <a:prstGeom prst="rect">
            <a:avLst/>
          </a:prstGeom>
          <a:noFill/>
          <a:ln>
            <a:noFill/>
          </a:ln>
        </p:spPr>
      </p:pic>
      <p:sp>
        <p:nvSpPr>
          <p:cNvPr id="236" name="Google Shape;236;p22"/>
          <p:cNvSpPr txBox="1"/>
          <p:nvPr/>
        </p:nvSpPr>
        <p:spPr>
          <a:xfrm>
            <a:off x="762000" y="571500"/>
            <a:ext cx="11401425" cy="542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b="1" i="0" u="none" strike="noStrike" cap="none">
                <a:solidFill>
                  <a:srgbClr val="232F3E"/>
                </a:solidFill>
                <a:latin typeface="Poppins"/>
                <a:ea typeface="Poppins"/>
                <a:cs typeface="Poppins"/>
                <a:sym typeface="Poppins"/>
              </a:rPr>
              <a:t>Risks and Challenges</a:t>
            </a:r>
            <a:endParaRPr/>
          </a:p>
        </p:txBody>
      </p:sp>
      <p:sp>
        <p:nvSpPr>
          <p:cNvPr id="237" name="Google Shape;237;p22"/>
          <p:cNvSpPr/>
          <p:nvPr/>
        </p:nvSpPr>
        <p:spPr>
          <a:xfrm>
            <a:off x="571500" y="571500"/>
            <a:ext cx="57150" cy="542925"/>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1"/>
        <p:cNvGrpSpPr/>
        <p:nvPr/>
      </p:nvGrpSpPr>
      <p:grpSpPr>
        <a:xfrm>
          <a:off x="0" y="0"/>
          <a:ext cx="0" cy="0"/>
          <a:chOff x="0" y="0"/>
          <a:chExt cx="0" cy="0"/>
        </a:xfrm>
      </p:grpSpPr>
      <p:pic>
        <p:nvPicPr>
          <p:cNvPr id="242" name="Google Shape;242;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3" name="Google Shape;243;p23"/>
          <p:cNvSpPr txBox="1"/>
          <p:nvPr/>
        </p:nvSpPr>
        <p:spPr>
          <a:xfrm>
            <a:off x="571500" y="1614625"/>
            <a:ext cx="10736400" cy="4652299"/>
          </a:xfrm>
          <a:prstGeom prst="rect">
            <a:avLst/>
          </a:prstGeom>
          <a:noFill/>
          <a:ln>
            <a:noFill/>
          </a:ln>
        </p:spPr>
        <p:txBody>
          <a:bodyPr spcFirstLastPara="1" wrap="square" lIns="0" tIns="0" rIns="0" bIns="0" anchor="t" anchorCtr="0">
            <a:spAutoFit/>
          </a:bodyPr>
          <a:lstStyle/>
          <a:p>
            <a:pPr marL="0" lvl="0" indent="0" algn="l" rtl="0">
              <a:lnSpc>
                <a:spcPct val="115000"/>
              </a:lnSpc>
              <a:spcBef>
                <a:spcPts val="1800"/>
              </a:spcBef>
              <a:spcAft>
                <a:spcPts val="0"/>
              </a:spcAft>
              <a:buClr>
                <a:schemeClr val="dk1"/>
              </a:buClr>
              <a:buSzPts val="1100"/>
              <a:buFont typeface="Arial"/>
              <a:buNone/>
            </a:pPr>
            <a:endParaRPr sz="1700" b="1" dirty="0">
              <a:solidFill>
                <a:schemeClr val="dk1"/>
              </a:solidFill>
              <a:latin typeface="Poppins"/>
              <a:ea typeface="Poppins"/>
              <a:cs typeface="Poppins"/>
              <a:sym typeface="Poppins"/>
            </a:endParaRPr>
          </a:p>
          <a:p>
            <a:pPr marL="457200" lvl="0" indent="-317500" algn="l" rtl="0">
              <a:lnSpc>
                <a:spcPct val="115000"/>
              </a:lnSpc>
              <a:spcBef>
                <a:spcPts val="400"/>
              </a:spcBef>
              <a:spcAft>
                <a:spcPts val="0"/>
              </a:spcAft>
              <a:buClr>
                <a:schemeClr val="dk1"/>
              </a:buClr>
              <a:buSzPts val="1400"/>
              <a:buFont typeface="Poppins"/>
              <a:buChar char="●"/>
            </a:pPr>
            <a:r>
              <a:rPr lang="en-US" dirty="0">
                <a:solidFill>
                  <a:schemeClr val="dk1"/>
                </a:solidFill>
                <a:latin typeface="Poppins"/>
                <a:ea typeface="Poppins"/>
                <a:cs typeface="Poppins"/>
                <a:sym typeface="Poppins"/>
              </a:rPr>
              <a:t>Enable CloudTrail (or other respective service in different Cloud enterprises)  with multi-region trail and organization-level scope from day one </a:t>
            </a:r>
            <a:endParaRPr dirty="0">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US" dirty="0">
                <a:solidFill>
                  <a:schemeClr val="dk1"/>
                </a:solidFill>
                <a:latin typeface="Poppins"/>
                <a:ea typeface="Poppins"/>
                <a:cs typeface="Poppins"/>
                <a:sym typeface="Poppins"/>
              </a:rPr>
              <a:t>Every CloudWatch Log Group must have an explicit retention policy. </a:t>
            </a:r>
            <a:endParaRPr dirty="0">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US" dirty="0">
                <a:solidFill>
                  <a:schemeClr val="dk1"/>
                </a:solidFill>
                <a:latin typeface="Poppins"/>
                <a:ea typeface="Poppins"/>
                <a:cs typeface="Poppins"/>
                <a:sym typeface="Poppins"/>
              </a:rPr>
              <a:t>Structure S3 log prefixes for Hive that is compatible partitioning from the start. Repartitioning after the fact is expensive and disruptive.</a:t>
            </a:r>
            <a:endParaRPr dirty="0">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US" dirty="0">
                <a:solidFill>
                  <a:schemeClr val="dk1"/>
                </a:solidFill>
                <a:latin typeface="Poppins"/>
                <a:ea typeface="Poppins"/>
                <a:cs typeface="Poppins"/>
                <a:sym typeface="Poppins"/>
              </a:rPr>
              <a:t>Use structured logging (JSON) in all applications. Unstructured text logs require complex parsing; structured logs can be queried directly with Logs Insights or Athena.</a:t>
            </a:r>
            <a:endParaRPr dirty="0">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US" dirty="0">
                <a:solidFill>
                  <a:schemeClr val="dk1"/>
                </a:solidFill>
                <a:latin typeface="Poppins"/>
                <a:ea typeface="Poppins"/>
                <a:cs typeface="Poppins"/>
                <a:sym typeface="Poppins"/>
              </a:rPr>
              <a:t>Separate log storage accounts from workload accounts. A compromised workload account should not be able to delete or modify its own audit logs.</a:t>
            </a:r>
            <a:endParaRPr dirty="0">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US" dirty="0">
                <a:solidFill>
                  <a:schemeClr val="dk1"/>
                </a:solidFill>
                <a:latin typeface="Poppins"/>
                <a:ea typeface="Poppins"/>
                <a:cs typeface="Poppins"/>
                <a:sym typeface="Poppins"/>
              </a:rPr>
              <a:t>Never rely solely on CloudWatch for long-term log analysis. Export to S3 and use Athena for cost-effective historical queries.</a:t>
            </a:r>
            <a:endParaRPr dirty="0">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US" dirty="0">
                <a:solidFill>
                  <a:schemeClr val="dk1"/>
                </a:solidFill>
                <a:latin typeface="Poppins"/>
                <a:ea typeface="Poppins"/>
                <a:cs typeface="Poppins"/>
                <a:sym typeface="Poppins"/>
              </a:rPr>
              <a:t>Implement log-based SLI/SLO tracking: derive error rate and latency metrics from logs and track them against SLOs in CloudWatch dashboards.</a:t>
            </a:r>
            <a:endParaRPr dirty="0">
              <a:solidFill>
                <a:schemeClr val="dk1"/>
              </a:solidFill>
              <a:latin typeface="Poppins"/>
              <a:ea typeface="Poppins"/>
              <a:cs typeface="Poppins"/>
              <a:sym typeface="Poppins"/>
            </a:endParaRPr>
          </a:p>
          <a:p>
            <a:pPr marL="457200" lvl="0" indent="-317500" algn="l" rtl="0">
              <a:lnSpc>
                <a:spcPct val="115000"/>
              </a:lnSpc>
              <a:spcBef>
                <a:spcPts val="0"/>
              </a:spcBef>
              <a:spcAft>
                <a:spcPts val="0"/>
              </a:spcAft>
              <a:buClr>
                <a:schemeClr val="dk1"/>
              </a:buClr>
              <a:buSzPts val="1400"/>
              <a:buFont typeface="Poppins"/>
              <a:buChar char="●"/>
            </a:pPr>
            <a:r>
              <a:rPr lang="en-US" dirty="0">
                <a:solidFill>
                  <a:schemeClr val="dk1"/>
                </a:solidFill>
                <a:latin typeface="Poppins"/>
                <a:ea typeface="Poppins"/>
                <a:cs typeface="Poppins"/>
                <a:sym typeface="Poppins"/>
              </a:rPr>
              <a:t>Review  log sources quarterly. Unused log groups, forgotten debug outputs, and duplicate streams add cost without adding value.</a:t>
            </a:r>
            <a:endParaRPr dirty="0">
              <a:solidFill>
                <a:schemeClr val="dk1"/>
              </a:solidFill>
              <a:latin typeface="Poppins"/>
              <a:ea typeface="Poppins"/>
              <a:cs typeface="Poppins"/>
              <a:sym typeface="Poppins"/>
            </a:endParaRPr>
          </a:p>
          <a:p>
            <a:pPr marL="457200" marR="0" lvl="0" indent="0" algn="l" rtl="0">
              <a:lnSpc>
                <a:spcPct val="140000"/>
              </a:lnSpc>
              <a:spcBef>
                <a:spcPts val="400"/>
              </a:spcBef>
              <a:spcAft>
                <a:spcPts val="0"/>
              </a:spcAft>
              <a:buNone/>
            </a:pPr>
            <a:endParaRPr dirty="0">
              <a:solidFill>
                <a:srgbClr val="444444"/>
              </a:solidFill>
              <a:latin typeface="Poppins"/>
              <a:ea typeface="Poppins"/>
              <a:cs typeface="Poppins"/>
              <a:sym typeface="Poppins"/>
            </a:endParaRPr>
          </a:p>
        </p:txBody>
      </p:sp>
      <p:sp>
        <p:nvSpPr>
          <p:cNvPr id="244" name="Google Shape;244;p23"/>
          <p:cNvSpPr txBox="1"/>
          <p:nvPr/>
        </p:nvSpPr>
        <p:spPr>
          <a:xfrm>
            <a:off x="762000" y="571500"/>
            <a:ext cx="11401500" cy="4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Font typeface="Arial"/>
              <a:buNone/>
            </a:pPr>
            <a:r>
              <a:rPr lang="en-US" sz="2850" b="1">
                <a:solidFill>
                  <a:srgbClr val="232F3E"/>
                </a:solidFill>
                <a:latin typeface="Poppins"/>
                <a:ea typeface="Poppins"/>
                <a:cs typeface="Poppins"/>
                <a:sym typeface="Poppins"/>
              </a:rPr>
              <a:t>Best Practices Summary</a:t>
            </a:r>
            <a:r>
              <a:rPr lang="en-US" sz="1700" b="1">
                <a:solidFill>
                  <a:schemeClr val="dk1"/>
                </a:solidFill>
              </a:rPr>
              <a:t> </a:t>
            </a:r>
            <a:endParaRPr/>
          </a:p>
        </p:txBody>
      </p:sp>
      <p:sp>
        <p:nvSpPr>
          <p:cNvPr id="245" name="Google Shape;245;p23"/>
          <p:cNvSpPr/>
          <p:nvPr/>
        </p:nvSpPr>
        <p:spPr>
          <a:xfrm>
            <a:off x="571500" y="571500"/>
            <a:ext cx="57300" cy="543000"/>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1">
          <a:extLst>
            <a:ext uri="{FF2B5EF4-FFF2-40B4-BE49-F238E27FC236}">
              <a16:creationId xmlns:a16="http://schemas.microsoft.com/office/drawing/2014/main" id="{F83D247E-6B60-8255-3878-B93B5BCD402C}"/>
            </a:ext>
          </a:extLst>
        </p:cNvPr>
        <p:cNvGrpSpPr/>
        <p:nvPr/>
      </p:nvGrpSpPr>
      <p:grpSpPr>
        <a:xfrm>
          <a:off x="0" y="0"/>
          <a:ext cx="0" cy="0"/>
          <a:chOff x="0" y="0"/>
          <a:chExt cx="0" cy="0"/>
        </a:xfrm>
      </p:grpSpPr>
      <p:pic>
        <p:nvPicPr>
          <p:cNvPr id="242" name="Google Shape;242;p23" descr="image.png">
            <a:extLst>
              <a:ext uri="{FF2B5EF4-FFF2-40B4-BE49-F238E27FC236}">
                <a16:creationId xmlns:a16="http://schemas.microsoft.com/office/drawing/2014/main" id="{76AA95CE-BCCD-9486-3BC9-B3FF837C4023}"/>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3" name="Google Shape;243;p23">
            <a:extLst>
              <a:ext uri="{FF2B5EF4-FFF2-40B4-BE49-F238E27FC236}">
                <a16:creationId xmlns:a16="http://schemas.microsoft.com/office/drawing/2014/main" id="{EE6819AF-BC69-B2BA-4562-FDC9F65A8F0D}"/>
              </a:ext>
            </a:extLst>
          </p:cNvPr>
          <p:cNvSpPr txBox="1"/>
          <p:nvPr/>
        </p:nvSpPr>
        <p:spPr>
          <a:xfrm>
            <a:off x="571500" y="1614625"/>
            <a:ext cx="10736400" cy="1411669"/>
          </a:xfrm>
          <a:prstGeom prst="rect">
            <a:avLst/>
          </a:prstGeom>
          <a:noFill/>
          <a:ln>
            <a:noFill/>
          </a:ln>
        </p:spPr>
        <p:txBody>
          <a:bodyPr spcFirstLastPara="1" wrap="square" lIns="0" tIns="0" rIns="0" bIns="0" anchor="t" anchorCtr="0">
            <a:spAutoFit/>
          </a:bodyPr>
          <a:lstStyle/>
          <a:p>
            <a:pPr marL="457200" lvl="0">
              <a:lnSpc>
                <a:spcPct val="140000"/>
              </a:lnSpc>
              <a:spcBef>
                <a:spcPts val="400"/>
              </a:spcBef>
            </a:pPr>
            <a:r>
              <a:rPr lang="en-US" dirty="0">
                <a:hlinkClick r:id="rId4"/>
              </a:rPr>
              <a:t>Amazon CloudWatch Pricing | Free Tier Available</a:t>
            </a:r>
            <a:endParaRPr lang="en-US" dirty="0"/>
          </a:p>
          <a:p>
            <a:pPr marL="457200" lvl="0">
              <a:lnSpc>
                <a:spcPct val="140000"/>
              </a:lnSpc>
              <a:spcBef>
                <a:spcPts val="400"/>
              </a:spcBef>
            </a:pPr>
            <a:r>
              <a:rPr lang="en-US" dirty="0" err="1">
                <a:hlinkClick r:id="rId5"/>
              </a:rPr>
              <a:t>aws_cloudwatch_log_group</a:t>
            </a:r>
            <a:r>
              <a:rPr lang="en-US" dirty="0">
                <a:hlinkClick r:id="rId5"/>
              </a:rPr>
              <a:t> | Resources | </a:t>
            </a:r>
            <a:r>
              <a:rPr lang="en-US" dirty="0" err="1">
                <a:hlinkClick r:id="rId5"/>
              </a:rPr>
              <a:t>hashicorp</a:t>
            </a:r>
            <a:r>
              <a:rPr lang="en-US" dirty="0">
                <a:hlinkClick r:id="rId5"/>
              </a:rPr>
              <a:t>/</a:t>
            </a:r>
            <a:r>
              <a:rPr lang="en-US" dirty="0" err="1">
                <a:hlinkClick r:id="rId5"/>
              </a:rPr>
              <a:t>aws</a:t>
            </a:r>
            <a:r>
              <a:rPr lang="en-US" dirty="0">
                <a:hlinkClick r:id="rId5"/>
              </a:rPr>
              <a:t> | Terraform | Terraform Registry</a:t>
            </a:r>
            <a:endParaRPr lang="en-US" dirty="0"/>
          </a:p>
          <a:p>
            <a:pPr marL="457200" lvl="0">
              <a:lnSpc>
                <a:spcPct val="140000"/>
              </a:lnSpc>
              <a:spcBef>
                <a:spcPts val="400"/>
              </a:spcBef>
            </a:pPr>
            <a:r>
              <a:rPr lang="en-US" dirty="0">
                <a:hlinkClick r:id="rId6"/>
              </a:rPr>
              <a:t>What Is AWS CloudTrail? - AWS CloudTrail</a:t>
            </a:r>
            <a:endParaRPr lang="en-US" dirty="0"/>
          </a:p>
          <a:p>
            <a:pPr marL="457200" lvl="0">
              <a:lnSpc>
                <a:spcPct val="140000"/>
              </a:lnSpc>
              <a:spcBef>
                <a:spcPts val="400"/>
              </a:spcBef>
            </a:pPr>
            <a:endParaRPr dirty="0">
              <a:solidFill>
                <a:srgbClr val="444444"/>
              </a:solidFill>
              <a:latin typeface="Poppins"/>
              <a:ea typeface="Poppins"/>
              <a:cs typeface="Poppins"/>
              <a:sym typeface="Poppins"/>
            </a:endParaRPr>
          </a:p>
        </p:txBody>
      </p:sp>
      <p:sp>
        <p:nvSpPr>
          <p:cNvPr id="244" name="Google Shape;244;p23">
            <a:extLst>
              <a:ext uri="{FF2B5EF4-FFF2-40B4-BE49-F238E27FC236}">
                <a16:creationId xmlns:a16="http://schemas.microsoft.com/office/drawing/2014/main" id="{EB5271D5-DAFB-728A-78A0-9D421DD949B9}"/>
              </a:ext>
            </a:extLst>
          </p:cNvPr>
          <p:cNvSpPr txBox="1"/>
          <p:nvPr/>
        </p:nvSpPr>
        <p:spPr>
          <a:xfrm>
            <a:off x="762000" y="571500"/>
            <a:ext cx="11401500"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000000"/>
              </a:buClr>
              <a:buFont typeface="Arial"/>
              <a:buNone/>
            </a:pPr>
            <a:r>
              <a:rPr lang="en-US" sz="2850" b="1" dirty="0">
                <a:solidFill>
                  <a:srgbClr val="232F3E"/>
                </a:solidFill>
                <a:latin typeface="Poppins"/>
                <a:cs typeface="Poppins"/>
                <a:sym typeface="Poppins"/>
              </a:rPr>
              <a:t>References</a:t>
            </a:r>
            <a:r>
              <a:rPr lang="en-US" sz="1700" b="1" dirty="0">
                <a:solidFill>
                  <a:schemeClr val="dk1"/>
                </a:solidFill>
              </a:rPr>
              <a:t> </a:t>
            </a:r>
            <a:endParaRPr dirty="0"/>
          </a:p>
        </p:txBody>
      </p:sp>
      <p:sp>
        <p:nvSpPr>
          <p:cNvPr id="245" name="Google Shape;245;p23">
            <a:extLst>
              <a:ext uri="{FF2B5EF4-FFF2-40B4-BE49-F238E27FC236}">
                <a16:creationId xmlns:a16="http://schemas.microsoft.com/office/drawing/2014/main" id="{B6A18E1B-65A2-305D-91C7-0A68F850A5D8}"/>
              </a:ext>
            </a:extLst>
          </p:cNvPr>
          <p:cNvSpPr/>
          <p:nvPr/>
        </p:nvSpPr>
        <p:spPr>
          <a:xfrm>
            <a:off x="571500" y="571500"/>
            <a:ext cx="57300" cy="543000"/>
          </a:xfrm>
          <a:prstGeom prst="rect">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0182296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1284</Words>
  <Application>Microsoft Office PowerPoint</Application>
  <PresentationFormat>Widescreen</PresentationFormat>
  <Paragraphs>131</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Lato</vt:lpstr>
      <vt:lpstr>Arial</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Vlera Mehmeti</cp:lastModifiedBy>
  <cp:revision>5</cp:revision>
  <dcterms:modified xsi:type="dcterms:W3CDTF">2026-05-13T21:55:15Z</dcterms:modified>
</cp:coreProperties>
</file>