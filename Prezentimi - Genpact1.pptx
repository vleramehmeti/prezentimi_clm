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66" r:id="rId15"/>
    <p:sldId id="268"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Lato" panose="020F0502020204030203"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96CCCC-D195-4ECD-B664-7D1EE737A1EF}">
  <a:tblStyle styleId="{3796CCCC-D195-4ECD-B664-7D1EE737A1E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242" autoAdjust="0"/>
  </p:normalViewPr>
  <p:slideViewPr>
    <p:cSldViewPr snapToGrid="0">
      <p:cViewPr varScale="1">
        <p:scale>
          <a:sx n="64" d="100"/>
          <a:sy n="64" d="100"/>
        </p:scale>
        <p:origin x="1548"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err="1"/>
              <a:t>Niher</a:t>
            </a:r>
            <a:r>
              <a:rPr lang="en-US" dirty="0"/>
              <a:t> slide</a:t>
            </a:r>
            <a:br>
              <a:rPr lang="en-US" dirty="0"/>
            </a:br>
            <a:r>
              <a:rPr lang="en-US" dirty="0"/>
              <a:t>TRAIL LOGS answer governance questions: Was this security group changed before the breach? Which engineer deleted the production database? and so on.</a:t>
            </a:r>
            <a:endParaRPr dirty="0"/>
          </a:p>
          <a:p>
            <a:pPr marL="0" lvl="0" indent="0" algn="just" rtl="0">
              <a:lnSpc>
                <a:spcPct val="115000"/>
              </a:lnSpc>
              <a:spcBef>
                <a:spcPts val="700"/>
              </a:spcBef>
              <a:spcAft>
                <a:spcPts val="0"/>
              </a:spcAft>
              <a:buClr>
                <a:schemeClr val="dk1"/>
              </a:buClr>
              <a:buSzPts val="1100"/>
              <a:buFont typeface="Arial"/>
              <a:buNone/>
            </a:pPr>
            <a:r>
              <a:rPr lang="en-US" dirty="0"/>
              <a:t>DUMP LOGS answer operational questions, for example: Why is this API endpoint returning 500 errors? or What was the SQL query that caused the database lock?  </a:t>
            </a:r>
            <a:endParaRPr dirty="0"/>
          </a:p>
          <a:p>
            <a:pPr marL="0" lvl="0" indent="0" algn="l" rtl="0">
              <a:spcBef>
                <a:spcPts val="700"/>
              </a:spcBef>
              <a:spcAft>
                <a:spcPts val="0"/>
              </a:spcAft>
              <a:buNone/>
            </a:pPr>
            <a:endParaRPr lang="en-US" dirty="0"/>
          </a:p>
          <a:p>
            <a:r>
              <a:rPr lang="en-US" b="1" dirty="0"/>
              <a:t>1. Network Logs (Flow Logs)-</a:t>
            </a:r>
            <a:r>
              <a:rPr lang="en-US" dirty="0"/>
              <a:t>These record the IP traffic going to and from network interfaces. They are critical for security forensics and troubleshooting connectivity issues.</a:t>
            </a:r>
          </a:p>
          <a:p>
            <a:r>
              <a:rPr lang="en-US" b="1" dirty="0"/>
              <a:t>2. Application Logs - </a:t>
            </a:r>
            <a:r>
              <a:rPr lang="en-US" dirty="0"/>
              <a:t>Generated by the code or the runtime environment (e.g., Java, Python, Node.js). These are custom-defined by developers to track the internal health of an app.</a:t>
            </a:r>
          </a:p>
          <a:p>
            <a:r>
              <a:rPr lang="en-US" b="1" dirty="0"/>
              <a:t>3. Resource &amp; Service Logs-</a:t>
            </a:r>
            <a:r>
              <a:rPr lang="en-US" dirty="0"/>
              <a:t>These logs come from the cloud services themselves (managed databases, load balancers, etc.) and describe their internal operations rather than user actions.</a:t>
            </a:r>
          </a:p>
          <a:p>
            <a:r>
              <a:rPr lang="en-US" b="1" dirty="0"/>
              <a:t>4. System (OS-Level) Logs-</a:t>
            </a:r>
            <a:r>
              <a:rPr lang="en-US" dirty="0"/>
              <a:t>These are generated by the operating system (Linux/Windows) running on your Virtual Machines.</a:t>
            </a:r>
          </a:p>
          <a:p>
            <a:r>
              <a:rPr lang="en-US" b="1" dirty="0"/>
              <a:t>5. Access Logs-</a:t>
            </a:r>
            <a:r>
              <a:rPr lang="en-US" dirty="0"/>
              <a:t>Specific to storage and delivery services, these track every single request made to an object or a file.</a:t>
            </a:r>
          </a:p>
          <a:p>
            <a:endParaRPr lang="en-US" dirty="0"/>
          </a:p>
          <a:p>
            <a:endParaRPr lang="en-US" dirty="0"/>
          </a:p>
          <a:p>
            <a:endParaRPr lang="en-US" dirty="0"/>
          </a:p>
          <a:p>
            <a:endParaRPr lang="en-US" dirty="0"/>
          </a:p>
          <a:p>
            <a:pPr marL="0" lvl="0" indent="0" algn="l" rtl="0">
              <a:spcBef>
                <a:spcPts val="700"/>
              </a:spcBef>
              <a:spcAft>
                <a:spcPts val="0"/>
              </a:spcAft>
              <a:buNone/>
            </a:pPr>
            <a:endParaRPr dirty="0"/>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notes</a:t>
            </a:r>
            <a:endParaRPr/>
          </a:p>
          <a:p>
            <a:pPr marL="0" lvl="0" indent="0" algn="just" rtl="0">
              <a:lnSpc>
                <a:spcPct val="115000"/>
              </a:lnSpc>
              <a:spcBef>
                <a:spcPts val="700"/>
              </a:spcBef>
              <a:spcAft>
                <a:spcPts val="0"/>
              </a:spcAft>
              <a:buNone/>
            </a:pPr>
            <a:r>
              <a:rPr lang="en-US"/>
              <a:t>The most common log management failure is the absence of structure. Teams enable every log source available, ship everything to one undifferentiated destination, and end up with an expensive stack from which they cannot extract concrete findings.</a:t>
            </a:r>
            <a:endParaRPr/>
          </a:p>
          <a:p>
            <a:pPr marL="0" lvl="0" indent="0" algn="just" rtl="0">
              <a:lnSpc>
                <a:spcPct val="115000"/>
              </a:lnSpc>
              <a:spcBef>
                <a:spcPts val="700"/>
              </a:spcBef>
              <a:spcAft>
                <a:spcPts val="0"/>
              </a:spcAft>
              <a:buNone/>
            </a:pPr>
            <a:r>
              <a:rPr lang="en-US"/>
              <a:t>A practical organizational model divides logs into three tiers based on their sensitivity, query frequency, and retention needs such as^^^^^^</a:t>
            </a: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Clr>
                <a:schemeClr val="dk1"/>
              </a:buClr>
              <a:buSzPts val="1100"/>
              <a:buFont typeface="Arial"/>
              <a:buNone/>
            </a:pPr>
            <a:endParaRPr/>
          </a:p>
          <a:p>
            <a:pPr marL="0" lvl="0" indent="0" algn="l" rtl="0">
              <a:spcBef>
                <a:spcPts val="700"/>
              </a:spcBef>
              <a:spcAft>
                <a:spcPts val="0"/>
              </a:spcAft>
              <a:buNone/>
            </a:pPr>
            <a:endParaR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t>PROBLEM/NEED</a:t>
            </a:r>
            <a:br>
              <a:rPr lang="en-US" dirty="0"/>
            </a:br>
            <a:r>
              <a:rPr lang="en-US" dirty="0"/>
              <a:t>CloudWatch Logs, if retention is never configured, stores logs indefinitely and charges for every GB stored. A single high-traffic Lambda function can generate hundreds of GB per month. Teams frequently discover high monthly bills caused exclusively by forgotten debug log groups that have been accumulating for years.</a:t>
            </a:r>
            <a:endParaRPr dirty="0"/>
          </a:p>
          <a:p>
            <a:pPr marL="0" lvl="0" indent="0" algn="l" rtl="0">
              <a:spcBef>
                <a:spcPts val="700"/>
              </a:spcBef>
              <a:spcAft>
                <a:spcPts val="0"/>
              </a:spcAft>
              <a:buNone/>
            </a:pPr>
            <a:endParaRPr dirty="0"/>
          </a:p>
        </p:txBody>
      </p:sp>
      <p:sp>
        <p:nvSpPr>
          <p:cNvPr id="163" name="Google Shape;1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slide </a:t>
            </a:r>
            <a:endParaRPr/>
          </a:p>
          <a:p>
            <a:pPr marL="0" lvl="0" indent="0" algn="just" rtl="0">
              <a:lnSpc>
                <a:spcPct val="115000"/>
              </a:lnSpc>
              <a:spcBef>
                <a:spcPts val="700"/>
              </a:spcBef>
              <a:spcAft>
                <a:spcPts val="0"/>
              </a:spcAft>
              <a:buClr>
                <a:schemeClr val="dk1"/>
              </a:buClr>
              <a:buSzPts val="1100"/>
              <a:buFont typeface="Arial"/>
              <a:buNone/>
            </a:pPr>
            <a:r>
              <a:rPr lang="en-US"/>
              <a:t>mas “Monitoring is the active process of extracting signal from log data…” —&gt;such as detecting anomalies, triggering alerts, and surfacing patterns before they become incidents. In practice, most organizations store logs well but monitor them poorly.</a:t>
            </a:r>
            <a:endParaRPr/>
          </a:p>
          <a:p>
            <a:pPr marL="0" lvl="0" indent="0" algn="l" rtl="0">
              <a:spcBef>
                <a:spcPts val="700"/>
              </a:spcBef>
              <a:spcAft>
                <a:spcPts val="0"/>
              </a:spcAft>
              <a:buNone/>
            </a:pPr>
            <a:endParaRPr/>
          </a:p>
        </p:txBody>
      </p:sp>
      <p:sp>
        <p:nvSpPr>
          <p:cNvPr id="195" name="Google Shape;19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notes</a:t>
            </a:r>
            <a:endParaRPr/>
          </a:p>
          <a:p>
            <a:pPr marL="0" lvl="0" indent="0" algn="just" rtl="0">
              <a:lnSpc>
                <a:spcPct val="115000"/>
              </a:lnSpc>
              <a:spcBef>
                <a:spcPts val="700"/>
              </a:spcBef>
              <a:spcAft>
                <a:spcPts val="0"/>
              </a:spcAft>
              <a:buClr>
                <a:schemeClr val="dk1"/>
              </a:buClr>
              <a:buSzPts val="1100"/>
              <a:buFont typeface="Arial"/>
              <a:buNone/>
            </a:pPr>
            <a:r>
              <a:rPr lang="en-US"/>
              <a:t>CloudWatch Metric Filters extract numeric signals from log text and publish them as custom CloudWatch metrics. This bridge between raw logs and the CloudWatch alarm system is one of the most underutilized features in AWS, and can help figure out what’s not working properly much faster.</a:t>
            </a:r>
            <a:endParaRPr/>
          </a:p>
          <a:p>
            <a:pPr marL="0" lvl="0" indent="0" algn="l" rtl="0">
              <a:spcBef>
                <a:spcPts val="700"/>
              </a:spcBef>
              <a:spcAft>
                <a:spcPts val="0"/>
              </a:spcAft>
              <a:buNone/>
            </a:pPr>
            <a:endParaRPr/>
          </a:p>
        </p:txBody>
      </p:sp>
      <p:sp>
        <p:nvSpPr>
          <p:cNvPr id="206" name="Google Shape;2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0FB018D-4067-7AA4-9252-A6D706F587BC}"/>
            </a:ext>
          </a:extLst>
        </p:cNvPr>
        <p:cNvGrpSpPr/>
        <p:nvPr/>
      </p:nvGrpSpPr>
      <p:grpSpPr>
        <a:xfrm>
          <a:off x="0" y="0"/>
          <a:ext cx="0" cy="0"/>
          <a:chOff x="0" y="0"/>
          <a:chExt cx="0" cy="0"/>
        </a:xfrm>
      </p:grpSpPr>
      <p:sp>
        <p:nvSpPr>
          <p:cNvPr id="220" name="Google Shape;220;p10:notes">
            <a:extLst>
              <a:ext uri="{FF2B5EF4-FFF2-40B4-BE49-F238E27FC236}">
                <a16:creationId xmlns:a16="http://schemas.microsoft.com/office/drawing/2014/main" id="{8A6C7752-E0BF-A213-1022-C470BA29E8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a:extLst>
              <a:ext uri="{FF2B5EF4-FFF2-40B4-BE49-F238E27FC236}">
                <a16:creationId xmlns:a16="http://schemas.microsoft.com/office/drawing/2014/main" id="{AC833EC4-B3C4-909C-419E-7AC867DC03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98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ACB78C0-851A-F761-26F4-00F03B3D2E18}"/>
            </a:ext>
          </a:extLst>
        </p:cNvPr>
        <p:cNvGrpSpPr/>
        <p:nvPr/>
      </p:nvGrpSpPr>
      <p:grpSpPr>
        <a:xfrm>
          <a:off x="0" y="0"/>
          <a:ext cx="0" cy="0"/>
          <a:chOff x="0" y="0"/>
          <a:chExt cx="0" cy="0"/>
        </a:xfrm>
      </p:grpSpPr>
      <p:sp>
        <p:nvSpPr>
          <p:cNvPr id="220" name="Google Shape;220;p10:notes">
            <a:extLst>
              <a:ext uri="{FF2B5EF4-FFF2-40B4-BE49-F238E27FC236}">
                <a16:creationId xmlns:a16="http://schemas.microsoft.com/office/drawing/2014/main" id="{6788CDC1-ABCF-2F13-F4EB-7AE222E946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a:extLst>
              <a:ext uri="{FF2B5EF4-FFF2-40B4-BE49-F238E27FC236}">
                <a16:creationId xmlns:a16="http://schemas.microsoft.com/office/drawing/2014/main" id="{C6EFA5E4-EEC9-3EBC-F52B-43E943F46B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4607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e1a3f2068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latin typeface="Poppins"/>
              <a:ea typeface="Poppins"/>
              <a:cs typeface="Poppins"/>
              <a:sym typeface="Poppins"/>
            </a:endParaRPr>
          </a:p>
          <a:p>
            <a:pPr marL="0" lvl="0" indent="0" algn="l" rtl="0">
              <a:spcBef>
                <a:spcPts val="0"/>
              </a:spcBef>
              <a:spcAft>
                <a:spcPts val="0"/>
              </a:spcAft>
              <a:buNone/>
            </a:pPr>
            <a:endParaRPr sz="1400" dirty="0">
              <a:solidFill>
                <a:schemeClr val="dk1"/>
              </a:solidFill>
              <a:latin typeface="Poppins"/>
              <a:ea typeface="Poppins"/>
              <a:cs typeface="Poppins"/>
              <a:sym typeface="Poppins"/>
            </a:endParaRPr>
          </a:p>
          <a:p>
            <a:pPr marL="0" lvl="0" indent="0" algn="l" rtl="0">
              <a:spcBef>
                <a:spcPts val="0"/>
              </a:spcBef>
              <a:spcAft>
                <a:spcPts val="0"/>
              </a:spcAft>
              <a:buNone/>
            </a:pPr>
            <a:endParaRPr dirty="0"/>
          </a:p>
        </p:txBody>
      </p:sp>
      <p:sp>
        <p:nvSpPr>
          <p:cNvPr id="240" name="Google Shape;240;g3e1a3f2068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282AF4EF-A986-3282-496F-216A9EF1E1BE}"/>
            </a:ext>
          </a:extLst>
        </p:cNvPr>
        <p:cNvGrpSpPr/>
        <p:nvPr/>
      </p:nvGrpSpPr>
      <p:grpSpPr>
        <a:xfrm>
          <a:off x="0" y="0"/>
          <a:ext cx="0" cy="0"/>
          <a:chOff x="0" y="0"/>
          <a:chExt cx="0" cy="0"/>
        </a:xfrm>
      </p:grpSpPr>
      <p:sp>
        <p:nvSpPr>
          <p:cNvPr id="239" name="Google Shape;239;g3e1a3f20680_0_11:notes">
            <a:extLst>
              <a:ext uri="{FF2B5EF4-FFF2-40B4-BE49-F238E27FC236}">
                <a16:creationId xmlns:a16="http://schemas.microsoft.com/office/drawing/2014/main" id="{8A83AD7C-415C-5CEA-D6C6-043E6CD0B6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endParaRPr sz="1400">
              <a:solidFill>
                <a:schemeClr val="dk1"/>
              </a:solidFill>
              <a:latin typeface="Poppins"/>
              <a:ea typeface="Poppins"/>
              <a:cs typeface="Poppins"/>
              <a:sym typeface="Poppins"/>
            </a:endParaRPr>
          </a:p>
          <a:p>
            <a:pPr marL="0" lvl="0" indent="0" algn="l" rtl="0">
              <a:spcBef>
                <a:spcPts val="0"/>
              </a:spcBef>
              <a:spcAft>
                <a:spcPts val="0"/>
              </a:spcAft>
              <a:buNone/>
            </a:pPr>
            <a:endParaRPr/>
          </a:p>
        </p:txBody>
      </p:sp>
      <p:sp>
        <p:nvSpPr>
          <p:cNvPr id="240" name="Google Shape;240;g3e1a3f20680_0_11:notes">
            <a:extLst>
              <a:ext uri="{FF2B5EF4-FFF2-40B4-BE49-F238E27FC236}">
                <a16:creationId xmlns:a16="http://schemas.microsoft.com/office/drawing/2014/main" id="{1787967F-0DA4-13E3-E238-767191BE3F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7953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petri.com/microsoft-loses-security-logs-cloud-services/" TargetMode="External"/><Relationship Id="rId3" Type="http://schemas.openxmlformats.org/officeDocument/2006/relationships/image" Target="../media/image1.png"/><Relationship Id="rId7" Type="http://schemas.openxmlformats.org/officeDocument/2006/relationships/hyperlink" Target="https://blog.cloudflare.com/cloudflare-incident-on-november-14-2024-resulting-in-lost-logs/#what-happened" TargetMode="External"/><Relationship Id="rId12" Type="http://schemas.openxmlformats.org/officeDocument/2006/relationships/hyperlink" Target="https://docs.aws.amazon.com/AmazonCloudWatch/latest/logs/LogsAnomalyDetection.htm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ocs.aws.amazon.com/awscloudtrail/latest/userguide/cloudtrail-user-guide.html" TargetMode="External"/><Relationship Id="rId11" Type="http://schemas.openxmlformats.org/officeDocument/2006/relationships/hyperlink" Target="https://docs.aws.amazon.com/AmazonCloudWatch/latest/logs/MonitoringPolicyExamples.html" TargetMode="External"/><Relationship Id="rId5" Type="http://schemas.openxmlformats.org/officeDocument/2006/relationships/hyperlink" Target="https://registry.terraform.io/providers/hashicorp/aws/latest/docs/resources/cloudwatch_log_group" TargetMode="External"/><Relationship Id="rId10" Type="http://schemas.openxmlformats.org/officeDocument/2006/relationships/hyperlink" Target="https://docs.aws.amazon.com/AmazonCloudWatch/latest/logs/WhatIsCloudWatchLogs.html" TargetMode="External"/><Relationship Id="rId4" Type="http://schemas.openxmlformats.org/officeDocument/2006/relationships/hyperlink" Target="https://aws.amazon.com/cloudwatch/pricing/" TargetMode="External"/><Relationship Id="rId9" Type="http://schemas.openxmlformats.org/officeDocument/2006/relationships/hyperlink" Target="https://healthlawcenter.com/5-5-million-hipaa-settlement-underscores-importance-of-audit-contro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571500"/>
            <a:ext cx="11049000" cy="5715000"/>
          </a:xfrm>
          <a:prstGeom prst="rect">
            <a:avLst/>
          </a:prstGeom>
          <a:noFill/>
          <a:ln>
            <a:noFill/>
          </a:ln>
        </p:spPr>
      </p:pic>
      <p:sp>
        <p:nvSpPr>
          <p:cNvPr id="86" name="Google Shape;86;p13"/>
          <p:cNvSpPr txBox="1"/>
          <p:nvPr/>
        </p:nvSpPr>
        <p:spPr>
          <a:xfrm>
            <a:off x="4281487" y="2302222"/>
            <a:ext cx="3629025" cy="38779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1" i="0" u="none" strike="noStrike" cap="none" dirty="0">
                <a:solidFill>
                  <a:srgbClr val="FF9900"/>
                </a:solidFill>
                <a:latin typeface="Poppins" panose="00000500000000000000" pitchFamily="2" charset="0"/>
                <a:ea typeface="Lato"/>
                <a:cs typeface="Poppins" panose="00000500000000000000" pitchFamily="2" charset="0"/>
                <a:sym typeface="Lato"/>
              </a:rPr>
              <a:t>TECHNICAL RESEARCH BRIEF</a:t>
            </a:r>
            <a:endParaRPr dirty="0">
              <a:latin typeface="Poppins" panose="00000500000000000000" pitchFamily="2" charset="0"/>
              <a:cs typeface="Poppins" panose="00000500000000000000" pitchFamily="2" charset="0"/>
            </a:endParaRPr>
          </a:p>
        </p:txBody>
      </p:sp>
      <p:sp>
        <p:nvSpPr>
          <p:cNvPr id="87" name="Google Shape;87;p13"/>
          <p:cNvSpPr txBox="1"/>
          <p:nvPr/>
        </p:nvSpPr>
        <p:spPr>
          <a:xfrm>
            <a:off x="2385536" y="2622202"/>
            <a:ext cx="7420800" cy="761747"/>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500" b="1" i="0" u="none" strike="noStrike" cap="none" dirty="0">
                <a:solidFill>
                  <a:srgbClr val="232F3E"/>
                </a:solidFill>
                <a:latin typeface="Poppins" panose="00000500000000000000" pitchFamily="2" charset="0"/>
                <a:ea typeface="Poppins"/>
                <a:cs typeface="Poppins" panose="00000500000000000000" pitchFamily="2" charset="0"/>
                <a:sym typeface="Poppins"/>
              </a:rPr>
              <a:t>Cloud Log Management</a:t>
            </a:r>
            <a:endParaRPr dirty="0">
              <a:latin typeface="Poppins" panose="00000500000000000000" pitchFamily="2" charset="0"/>
              <a:cs typeface="Poppins" panose="00000500000000000000" pitchFamily="2" charset="0"/>
            </a:endParaRPr>
          </a:p>
        </p:txBody>
      </p:sp>
      <p:sp>
        <p:nvSpPr>
          <p:cNvPr id="88" name="Google Shape;88;p13"/>
          <p:cNvSpPr txBox="1"/>
          <p:nvPr/>
        </p:nvSpPr>
        <p:spPr>
          <a:xfrm>
            <a:off x="3473534" y="3536601"/>
            <a:ext cx="5244900" cy="3231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Strategy, Architecture, and Implementation</a:t>
            </a:r>
            <a:endParaRPr dirty="0">
              <a:latin typeface="Poppins" panose="00000500000000000000" pitchFamily="2" charset="0"/>
              <a:cs typeface="Poppins" panose="00000500000000000000" pitchFamily="2" charset="0"/>
            </a:endParaRPr>
          </a:p>
        </p:txBody>
      </p:sp>
      <p:sp>
        <p:nvSpPr>
          <p:cNvPr id="89" name="Google Shape;89;p13"/>
          <p:cNvSpPr txBox="1"/>
          <p:nvPr/>
        </p:nvSpPr>
        <p:spPr>
          <a:xfrm>
            <a:off x="5265288" y="4241626"/>
            <a:ext cx="16614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a:solidFill>
                  <a:srgbClr val="888888"/>
                </a:solidFill>
                <a:latin typeface="Poppins" panose="00000500000000000000" pitchFamily="2" charset="0"/>
                <a:ea typeface="Lato"/>
                <a:cs typeface="Poppins" panose="00000500000000000000" pitchFamily="2" charset="0"/>
                <a:sym typeface="Lato"/>
              </a:rPr>
              <a:t>May 2026</a:t>
            </a:r>
            <a:endParaRPr dirty="0">
              <a:latin typeface="Poppins" panose="00000500000000000000" pitchFamily="2" charset="0"/>
              <a:cs typeface="Poppins" panose="00000500000000000000" pitchFamily="2" charset="0"/>
            </a:endParaRPr>
          </a:p>
        </p:txBody>
      </p:sp>
      <p:sp>
        <p:nvSpPr>
          <p:cNvPr id="8" name="Google Shape;88;p13">
            <a:extLst>
              <a:ext uri="{FF2B5EF4-FFF2-40B4-BE49-F238E27FC236}">
                <a16:creationId xmlns:a16="http://schemas.microsoft.com/office/drawing/2014/main" id="{5AC20DCE-D3D3-42BA-97F6-42CD393E33BF}"/>
              </a:ext>
            </a:extLst>
          </p:cNvPr>
          <p:cNvSpPr txBox="1"/>
          <p:nvPr/>
        </p:nvSpPr>
        <p:spPr>
          <a:xfrm>
            <a:off x="7910512" y="6429783"/>
            <a:ext cx="5244900" cy="32316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dirty="0" err="1">
                <a:solidFill>
                  <a:srgbClr val="444444"/>
                </a:solidFill>
                <a:latin typeface="Poppins" panose="00000500000000000000" pitchFamily="2" charset="0"/>
                <a:ea typeface="Lato"/>
                <a:cs typeface="Poppins" panose="00000500000000000000" pitchFamily="2" charset="0"/>
                <a:sym typeface="Lato"/>
              </a:rPr>
              <a:t>Erona</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a:t>
            </a:r>
            <a:r>
              <a:rPr lang="en-US" sz="1500" b="0" i="0" u="none" strike="noStrike" cap="none" dirty="0" err="1">
                <a:solidFill>
                  <a:srgbClr val="444444"/>
                </a:solidFill>
                <a:latin typeface="Poppins" panose="00000500000000000000" pitchFamily="2" charset="0"/>
                <a:ea typeface="Lato"/>
                <a:cs typeface="Poppins" panose="00000500000000000000" pitchFamily="2" charset="0"/>
                <a:sym typeface="Lato"/>
              </a:rPr>
              <a:t>Sermaxhaj</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a:t>
            </a:r>
            <a:r>
              <a:rPr lang="en-US" sz="1500" b="0" i="0" u="none" strike="noStrike" cap="none" dirty="0" err="1">
                <a:solidFill>
                  <a:srgbClr val="444444"/>
                </a:solidFill>
                <a:latin typeface="Poppins" panose="00000500000000000000" pitchFamily="2" charset="0"/>
                <a:ea typeface="Lato"/>
                <a:cs typeface="Poppins" panose="00000500000000000000" pitchFamily="2" charset="0"/>
                <a:sym typeface="Lato"/>
              </a:rPr>
              <a:t>Vlerë</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Mehmeti</a:t>
            </a:r>
            <a:endParaRPr dirty="0">
              <a:latin typeface="Poppins" panose="00000500000000000000" pitchFamily="2" charset="0"/>
              <a:cs typeface="Poppins"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13214"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6286500" y="1985962"/>
            <a:ext cx="5334000" cy="3810000"/>
          </a:xfrm>
          <a:prstGeom prst="rect">
            <a:avLst/>
          </a:prstGeom>
          <a:noFill/>
          <a:ln>
            <a:noFill/>
          </a:ln>
        </p:spPr>
      </p:pic>
      <p:sp>
        <p:nvSpPr>
          <p:cNvPr id="96" name="Google Shape;96;p14"/>
          <p:cNvSpPr txBox="1"/>
          <p:nvPr/>
        </p:nvSpPr>
        <p:spPr>
          <a:xfrm>
            <a:off x="482857" y="2490222"/>
            <a:ext cx="53340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Modern cloud systems generate enormous volumes of data every second. Without a strategy, organizations are </a:t>
            </a:r>
            <a:r>
              <a:rPr lang="en-US" sz="1500" b="1" i="0" u="none" strike="noStrike" cap="none" dirty="0">
                <a:solidFill>
                  <a:srgbClr val="444444"/>
                </a:solidFill>
                <a:latin typeface="Poppins" panose="00000500000000000000" pitchFamily="2" charset="0"/>
                <a:ea typeface="Lato"/>
                <a:cs typeface="Poppins" panose="00000500000000000000" pitchFamily="2" charset="0"/>
                <a:sym typeface="Lato"/>
              </a:rPr>
              <a:t>flying blind</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a:t>
            </a:r>
            <a:endParaRPr dirty="0">
              <a:latin typeface="Poppins" panose="00000500000000000000" pitchFamily="2" charset="0"/>
              <a:cs typeface="Poppins" panose="00000500000000000000" pitchFamily="2" charset="0"/>
            </a:endParaRPr>
          </a:p>
        </p:txBody>
      </p:sp>
      <p:sp>
        <p:nvSpPr>
          <p:cNvPr id="97" name="Google Shape;97;p14"/>
          <p:cNvSpPr txBox="1"/>
          <p:nvPr/>
        </p:nvSpPr>
        <p:spPr>
          <a:xfrm>
            <a:off x="571500" y="3543300"/>
            <a:ext cx="5334000"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This </a:t>
            </a:r>
            <a:r>
              <a:rPr lang="en-US" sz="1500" dirty="0">
                <a:solidFill>
                  <a:srgbClr val="444444"/>
                </a:solidFill>
                <a:latin typeface="Poppins" panose="00000500000000000000" pitchFamily="2" charset="0"/>
                <a:ea typeface="Lato"/>
                <a:cs typeface="Poppins" panose="00000500000000000000" pitchFamily="2" charset="0"/>
                <a:sym typeface="Lato"/>
              </a:rPr>
              <a:t>brief presentation </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covers practical observability:</a:t>
            </a:r>
            <a:endParaRPr dirty="0">
              <a:latin typeface="Poppins" panose="00000500000000000000" pitchFamily="2" charset="0"/>
              <a:cs typeface="Poppins" panose="00000500000000000000" pitchFamily="2" charset="0"/>
            </a:endParaRPr>
          </a:p>
        </p:txBody>
      </p:sp>
      <p:pic>
        <p:nvPicPr>
          <p:cNvPr id="98" name="Google Shape;98;p14" descr="image.png"/>
          <p:cNvPicPr preferRelativeResize="0"/>
          <p:nvPr/>
        </p:nvPicPr>
        <p:blipFill rotWithShape="1">
          <a:blip r:embed="rId5">
            <a:alphaModFix/>
          </a:blip>
          <a:srcRect/>
          <a:stretch/>
        </p:blipFill>
        <p:spPr>
          <a:xfrm>
            <a:off x="6693396" y="2176462"/>
            <a:ext cx="4520058" cy="3428851"/>
          </a:xfrm>
          <a:prstGeom prst="rect">
            <a:avLst/>
          </a:prstGeom>
          <a:noFill/>
          <a:ln>
            <a:noFill/>
          </a:ln>
        </p:spPr>
      </p:pic>
      <p:sp>
        <p:nvSpPr>
          <p:cNvPr id="99" name="Google Shape;99;p14"/>
          <p:cNvSpPr txBox="1"/>
          <p:nvPr/>
        </p:nvSpPr>
        <p:spPr>
          <a:xfrm>
            <a:off x="838200" y="3962400"/>
            <a:ext cx="1143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a:t>
            </a:r>
            <a:endParaRPr>
              <a:latin typeface="Poppins" panose="00000500000000000000" pitchFamily="2" charset="0"/>
              <a:cs typeface="Poppins" panose="00000500000000000000" pitchFamily="2" charset="0"/>
            </a:endParaRPr>
          </a:p>
        </p:txBody>
      </p:sp>
      <p:sp>
        <p:nvSpPr>
          <p:cNvPr id="100" name="Google Shape;100;p14"/>
          <p:cNvSpPr txBox="1"/>
          <p:nvPr/>
        </p:nvSpPr>
        <p:spPr>
          <a:xfrm>
            <a:off x="952500" y="3962400"/>
            <a:ext cx="4953000" cy="323165"/>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Why logs fail in production</a:t>
            </a:r>
            <a:endParaRPr>
              <a:latin typeface="Poppins" panose="00000500000000000000" pitchFamily="2" charset="0"/>
              <a:cs typeface="Poppins" panose="00000500000000000000" pitchFamily="2" charset="0"/>
            </a:endParaRPr>
          </a:p>
        </p:txBody>
      </p:sp>
      <p:sp>
        <p:nvSpPr>
          <p:cNvPr id="101" name="Google Shape;101;p14"/>
          <p:cNvSpPr txBox="1"/>
          <p:nvPr/>
        </p:nvSpPr>
        <p:spPr>
          <a:xfrm>
            <a:off x="838200" y="4229100"/>
            <a:ext cx="1143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a:t>
            </a:r>
            <a:endParaRPr>
              <a:latin typeface="Poppins" panose="00000500000000000000" pitchFamily="2" charset="0"/>
              <a:cs typeface="Poppins" panose="00000500000000000000" pitchFamily="2" charset="0"/>
            </a:endParaRPr>
          </a:p>
        </p:txBody>
      </p:sp>
      <p:sp>
        <p:nvSpPr>
          <p:cNvPr id="102" name="Google Shape;102;p14"/>
          <p:cNvSpPr txBox="1"/>
          <p:nvPr/>
        </p:nvSpPr>
        <p:spPr>
          <a:xfrm>
            <a:off x="952500" y="4229100"/>
            <a:ext cx="4953000" cy="323165"/>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Structuring for rapid analysis</a:t>
            </a:r>
            <a:endParaRPr>
              <a:latin typeface="Poppins" panose="00000500000000000000" pitchFamily="2" charset="0"/>
              <a:cs typeface="Poppins" panose="00000500000000000000" pitchFamily="2" charset="0"/>
            </a:endParaRPr>
          </a:p>
        </p:txBody>
      </p:sp>
      <p:sp>
        <p:nvSpPr>
          <p:cNvPr id="103" name="Google Shape;103;p14"/>
          <p:cNvSpPr txBox="1"/>
          <p:nvPr/>
        </p:nvSpPr>
        <p:spPr>
          <a:xfrm>
            <a:off x="838200" y="4495800"/>
            <a:ext cx="1143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a:t>
            </a:r>
            <a:endParaRPr>
              <a:latin typeface="Poppins" panose="00000500000000000000" pitchFamily="2" charset="0"/>
              <a:cs typeface="Poppins" panose="00000500000000000000" pitchFamily="2" charset="0"/>
            </a:endParaRPr>
          </a:p>
        </p:txBody>
      </p:sp>
      <p:sp>
        <p:nvSpPr>
          <p:cNvPr id="104" name="Google Shape;104;p14"/>
          <p:cNvSpPr txBox="1"/>
          <p:nvPr/>
        </p:nvSpPr>
        <p:spPr>
          <a:xfrm>
            <a:off x="952500" y="4495800"/>
            <a:ext cx="4953000" cy="323165"/>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dirty="0">
                <a:solidFill>
                  <a:srgbClr val="444444"/>
                </a:solidFill>
                <a:latin typeface="Poppins" panose="00000500000000000000" pitchFamily="2" charset="0"/>
                <a:ea typeface="Lato"/>
                <a:cs typeface="Poppins" panose="00000500000000000000" pitchFamily="2" charset="0"/>
                <a:sym typeface="Lato"/>
              </a:rPr>
              <a:t>C</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ost-controlled strategies</a:t>
            </a:r>
            <a:endParaRPr dirty="0">
              <a:latin typeface="Poppins" panose="00000500000000000000" pitchFamily="2" charset="0"/>
              <a:cs typeface="Poppins" panose="00000500000000000000" pitchFamily="2" charset="0"/>
            </a:endParaRPr>
          </a:p>
        </p:txBody>
      </p:sp>
      <p:sp>
        <p:nvSpPr>
          <p:cNvPr id="105" name="Google Shape;105;p14"/>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Introduction: The Visibility Gap</a:t>
            </a:r>
            <a:endParaRPr>
              <a:latin typeface="Poppins" panose="00000500000000000000" pitchFamily="2" charset="0"/>
              <a:cs typeface="Poppins" panose="00000500000000000000" pitchFamily="2" charset="0"/>
            </a:endParaRPr>
          </a:p>
        </p:txBody>
      </p:sp>
      <p:sp>
        <p:nvSpPr>
          <p:cNvPr id="106" name="Google Shape;106;p14"/>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2557462"/>
            <a:ext cx="5381625" cy="2667000"/>
          </a:xfrm>
          <a:prstGeom prst="rect">
            <a:avLst/>
          </a:prstGeom>
          <a:noFill/>
          <a:ln>
            <a:noFill/>
          </a:ln>
        </p:spPr>
      </p:pic>
      <p:pic>
        <p:nvPicPr>
          <p:cNvPr id="113" name="Google Shape;113;p15" descr="image.png"/>
          <p:cNvPicPr preferRelativeResize="0"/>
          <p:nvPr/>
        </p:nvPicPr>
        <p:blipFill rotWithShape="1">
          <a:blip r:embed="rId4">
            <a:alphaModFix/>
          </a:blip>
          <a:srcRect/>
          <a:stretch/>
        </p:blipFill>
        <p:spPr>
          <a:xfrm>
            <a:off x="6238875" y="2557462"/>
            <a:ext cx="5381625" cy="2667000"/>
          </a:xfrm>
          <a:prstGeom prst="rect">
            <a:avLst/>
          </a:prstGeom>
          <a:noFill/>
          <a:ln>
            <a:noFill/>
          </a:ln>
        </p:spPr>
      </p:pic>
      <p:sp>
        <p:nvSpPr>
          <p:cNvPr id="114" name="Google Shape;114;p15"/>
          <p:cNvSpPr txBox="1"/>
          <p:nvPr/>
        </p:nvSpPr>
        <p:spPr>
          <a:xfrm>
            <a:off x="857250" y="3443287"/>
            <a:ext cx="5050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panose="00000500000000000000" pitchFamily="2" charset="0"/>
                <a:ea typeface="Poppins"/>
                <a:cs typeface="Poppins" panose="00000500000000000000" pitchFamily="2" charset="0"/>
                <a:sym typeface="Poppins"/>
              </a:rPr>
              <a:t>Trail Logs </a:t>
            </a:r>
            <a:r>
              <a:rPr lang="en-US" sz="2100" b="1" dirty="0">
                <a:solidFill>
                  <a:srgbClr val="0073BB"/>
                </a:solidFill>
                <a:latin typeface="Poppins" panose="00000500000000000000" pitchFamily="2" charset="0"/>
                <a:ea typeface="Poppins"/>
                <a:cs typeface="Poppins" panose="00000500000000000000" pitchFamily="2" charset="0"/>
                <a:sym typeface="Poppins"/>
              </a:rPr>
              <a:t>- Audit</a:t>
            </a:r>
            <a:endParaRPr dirty="0">
              <a:latin typeface="Poppins" panose="00000500000000000000" pitchFamily="2" charset="0"/>
              <a:cs typeface="Poppins" panose="00000500000000000000" pitchFamily="2" charset="0"/>
            </a:endParaRPr>
          </a:p>
        </p:txBody>
      </p:sp>
      <p:sp>
        <p:nvSpPr>
          <p:cNvPr id="115" name="Google Shape;115;p15"/>
          <p:cNvSpPr txBox="1"/>
          <p:nvPr/>
        </p:nvSpPr>
        <p:spPr>
          <a:xfrm>
            <a:off x="857249" y="3849093"/>
            <a:ext cx="4810125"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Audit records of </a:t>
            </a:r>
            <a:r>
              <a:rPr lang="en-US" sz="1500" b="1" i="0" u="none" strike="noStrike" cap="none" dirty="0">
                <a:solidFill>
                  <a:srgbClr val="444444"/>
                </a:solidFill>
                <a:latin typeface="Poppins" panose="00000500000000000000" pitchFamily="2" charset="0"/>
                <a:ea typeface="Lato"/>
                <a:cs typeface="Poppins" panose="00000500000000000000" pitchFamily="2" charset="0"/>
                <a:sym typeface="Lato"/>
              </a:rPr>
              <a:t>who did what</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at the control plane. Authoritative chain of custody for all API calls (AWS CloudTrail</a:t>
            </a:r>
            <a:r>
              <a:rPr lang="en-US" sz="1500" dirty="0">
                <a:solidFill>
                  <a:srgbClr val="444444"/>
                </a:solidFill>
                <a:latin typeface="Poppins" panose="00000500000000000000" pitchFamily="2" charset="0"/>
                <a:ea typeface="Lato"/>
                <a:cs typeface="Poppins" panose="00000500000000000000" pitchFamily="2" charset="0"/>
                <a:sym typeface="Lato"/>
              </a:rPr>
              <a:t>, </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GCP – Cloud Audit Logs, Azure – Activity Log).</a:t>
            </a:r>
            <a:endParaRPr dirty="0">
              <a:latin typeface="Poppins" panose="00000500000000000000" pitchFamily="2" charset="0"/>
              <a:cs typeface="Poppins" panose="00000500000000000000" pitchFamily="2" charset="0"/>
            </a:endParaRPr>
          </a:p>
        </p:txBody>
      </p:sp>
      <p:sp>
        <p:nvSpPr>
          <p:cNvPr id="116" name="Google Shape;116;p15"/>
          <p:cNvSpPr txBox="1"/>
          <p:nvPr/>
        </p:nvSpPr>
        <p:spPr>
          <a:xfrm>
            <a:off x="6524625" y="3443287"/>
            <a:ext cx="5050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panose="00000500000000000000" pitchFamily="2" charset="0"/>
                <a:ea typeface="Poppins"/>
                <a:cs typeface="Poppins" panose="00000500000000000000" pitchFamily="2" charset="0"/>
                <a:sym typeface="Poppins"/>
              </a:rPr>
              <a:t>Dump Logs - Operational</a:t>
            </a:r>
            <a:endParaRPr>
              <a:latin typeface="Poppins" panose="00000500000000000000" pitchFamily="2" charset="0"/>
              <a:cs typeface="Poppins" panose="00000500000000000000" pitchFamily="2" charset="0"/>
            </a:endParaRPr>
          </a:p>
        </p:txBody>
      </p:sp>
      <p:sp>
        <p:nvSpPr>
          <p:cNvPr id="117" name="Google Shape;117;p15"/>
          <p:cNvSpPr txBox="1"/>
          <p:nvPr/>
        </p:nvSpPr>
        <p:spPr>
          <a:xfrm>
            <a:off x="6524625" y="3890962"/>
            <a:ext cx="4810125"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Continuous event streams from </a:t>
            </a:r>
            <a:r>
              <a:rPr lang="en-US" sz="1500" b="1" i="0" u="none" strike="noStrike" cap="none" dirty="0">
                <a:solidFill>
                  <a:srgbClr val="444444"/>
                </a:solidFill>
                <a:latin typeface="Poppins" panose="00000500000000000000" pitchFamily="2" charset="0"/>
                <a:ea typeface="Lato"/>
                <a:cs typeface="Poppins" panose="00000500000000000000" pitchFamily="2" charset="0"/>
                <a:sym typeface="Lato"/>
              </a:rPr>
              <a:t>data plane</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 activity. App errors, HTTP access, and database queries (CloudWatch Logs).</a:t>
            </a:r>
            <a:endParaRPr dirty="0">
              <a:latin typeface="Poppins" panose="00000500000000000000" pitchFamily="2" charset="0"/>
              <a:cs typeface="Poppins" panose="00000500000000000000" pitchFamily="2" charset="0"/>
            </a:endParaRPr>
          </a:p>
        </p:txBody>
      </p:sp>
      <p:pic>
        <p:nvPicPr>
          <p:cNvPr id="118" name="Google Shape;118;p15" descr="image.png"/>
          <p:cNvPicPr preferRelativeResize="0"/>
          <p:nvPr/>
        </p:nvPicPr>
        <p:blipFill rotWithShape="1">
          <a:blip r:embed="rId5">
            <a:alphaModFix/>
          </a:blip>
          <a:srcRect/>
          <a:stretch/>
        </p:blipFill>
        <p:spPr>
          <a:xfrm>
            <a:off x="857250" y="2881312"/>
            <a:ext cx="476250" cy="381000"/>
          </a:xfrm>
          <a:prstGeom prst="rect">
            <a:avLst/>
          </a:prstGeom>
          <a:noFill/>
          <a:ln>
            <a:noFill/>
          </a:ln>
        </p:spPr>
      </p:pic>
      <p:pic>
        <p:nvPicPr>
          <p:cNvPr id="119" name="Google Shape;119;p15" descr="image.png"/>
          <p:cNvPicPr preferRelativeResize="0"/>
          <p:nvPr/>
        </p:nvPicPr>
        <p:blipFill rotWithShape="1">
          <a:blip r:embed="rId6">
            <a:alphaModFix/>
          </a:blip>
          <a:srcRect/>
          <a:stretch/>
        </p:blipFill>
        <p:spPr>
          <a:xfrm>
            <a:off x="6524625" y="2881312"/>
            <a:ext cx="428625" cy="381000"/>
          </a:xfrm>
          <a:prstGeom prst="rect">
            <a:avLst/>
          </a:prstGeom>
          <a:noFill/>
          <a:ln>
            <a:noFill/>
          </a:ln>
        </p:spPr>
      </p:pic>
      <p:sp>
        <p:nvSpPr>
          <p:cNvPr id="120" name="Google Shape;120;p15"/>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dirty="0">
                <a:solidFill>
                  <a:srgbClr val="232F3E"/>
                </a:solidFill>
                <a:latin typeface="Poppins" panose="00000500000000000000" pitchFamily="2" charset="0"/>
                <a:ea typeface="Poppins"/>
                <a:cs typeface="Poppins" panose="00000500000000000000" pitchFamily="2" charset="0"/>
                <a:sym typeface="Poppins"/>
              </a:rPr>
              <a:t>Trail Logs vs. Dump Logs</a:t>
            </a:r>
            <a:endParaRPr dirty="0">
              <a:latin typeface="Poppins" panose="00000500000000000000" pitchFamily="2" charset="0"/>
              <a:cs typeface="Poppins" panose="00000500000000000000" pitchFamily="2" charset="0"/>
            </a:endParaRPr>
          </a:p>
        </p:txBody>
      </p:sp>
      <p:sp>
        <p:nvSpPr>
          <p:cNvPr id="121" name="Google Shape;121;p15"/>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27" name="Google Shape;127;p16"/>
          <p:cNvGraphicFramePr/>
          <p:nvPr>
            <p:extLst>
              <p:ext uri="{D42A27DB-BD31-4B8C-83A1-F6EECF244321}">
                <p14:modId xmlns:p14="http://schemas.microsoft.com/office/powerpoint/2010/main" val="307538788"/>
              </p:ext>
            </p:extLst>
          </p:nvPr>
        </p:nvGraphicFramePr>
        <p:xfrm>
          <a:off x="571500" y="2648166"/>
          <a:ext cx="11049025" cy="2527128"/>
        </p:xfrm>
        <a:graphic>
          <a:graphicData uri="http://schemas.openxmlformats.org/drawingml/2006/table">
            <a:tbl>
              <a:tblPr firstRow="1" bandRow="1">
                <a:noFill/>
                <a:tableStyleId>{3796CCCC-D195-4ECD-B664-7D1EE737A1EF}</a:tableStyleId>
              </a:tblPr>
              <a:tblGrid>
                <a:gridCol w="2614025">
                  <a:extLst>
                    <a:ext uri="{9D8B030D-6E8A-4147-A177-3AD203B41FA5}">
                      <a16:colId xmlns:a16="http://schemas.microsoft.com/office/drawing/2014/main" val="20000"/>
                    </a:ext>
                  </a:extLst>
                </a:gridCol>
                <a:gridCol w="3185295">
                  <a:extLst>
                    <a:ext uri="{9D8B030D-6E8A-4147-A177-3AD203B41FA5}">
                      <a16:colId xmlns:a16="http://schemas.microsoft.com/office/drawing/2014/main" val="20001"/>
                    </a:ext>
                  </a:extLst>
                </a:gridCol>
                <a:gridCol w="5249705">
                  <a:extLst>
                    <a:ext uri="{9D8B030D-6E8A-4147-A177-3AD203B41FA5}">
                      <a16:colId xmlns:a16="http://schemas.microsoft.com/office/drawing/2014/main" val="20002"/>
                    </a:ext>
                  </a:extLst>
                </a:gridCol>
              </a:tblGrid>
              <a:tr h="504782">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Log Type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AWS/GCP/AZURE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Primary Use Case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extLst>
                  <a:ext uri="{0D108BD9-81ED-4DB2-BD59-A6C34878D82A}">
                    <a16:rowId xmlns:a16="http://schemas.microsoft.com/office/drawing/2014/main" val="10000"/>
                  </a:ext>
                </a:extLst>
              </a:tr>
              <a:tr h="504782">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Trail Events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CloudTrail/Cloud Audit Logs/Azure Logs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Governance &amp; Security Audit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04782">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Network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VPC Flow Logs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Network Troubleshooting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r h="504782">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Application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Lambda/ECS/EC2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Debugging &amp; App Performance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04782">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Access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ALB / CloudFront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Traffic Analysis &amp; Forensics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4"/>
                  </a:ext>
                </a:extLst>
              </a:tr>
            </a:tbl>
          </a:graphicData>
        </a:graphic>
      </p:graphicFrame>
      <p:sp>
        <p:nvSpPr>
          <p:cNvPr id="128" name="Google Shape;128;p16"/>
          <p:cNvSpPr/>
          <p:nvPr/>
        </p:nvSpPr>
        <p:spPr>
          <a:xfrm>
            <a:off x="571500" y="3648075"/>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29" name="Google Shape;129;p16"/>
          <p:cNvSpPr/>
          <p:nvPr/>
        </p:nvSpPr>
        <p:spPr>
          <a:xfrm>
            <a:off x="3185517" y="3648075"/>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0" name="Google Shape;130;p16"/>
          <p:cNvSpPr/>
          <p:nvPr/>
        </p:nvSpPr>
        <p:spPr>
          <a:xfrm>
            <a:off x="6444406" y="3648075"/>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1" name="Google Shape;131;p16"/>
          <p:cNvSpPr/>
          <p:nvPr/>
        </p:nvSpPr>
        <p:spPr>
          <a:xfrm>
            <a:off x="571500" y="4152900"/>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2" name="Google Shape;132;p16"/>
          <p:cNvSpPr/>
          <p:nvPr/>
        </p:nvSpPr>
        <p:spPr>
          <a:xfrm>
            <a:off x="3185517" y="4152900"/>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3" name="Google Shape;133;p16"/>
          <p:cNvSpPr/>
          <p:nvPr/>
        </p:nvSpPr>
        <p:spPr>
          <a:xfrm>
            <a:off x="6444406" y="4152900"/>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4" name="Google Shape;134;p16"/>
          <p:cNvSpPr/>
          <p:nvPr/>
        </p:nvSpPr>
        <p:spPr>
          <a:xfrm>
            <a:off x="571500" y="4657725"/>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5" name="Google Shape;135;p16"/>
          <p:cNvSpPr/>
          <p:nvPr/>
        </p:nvSpPr>
        <p:spPr>
          <a:xfrm>
            <a:off x="3185517" y="4657725"/>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6" name="Google Shape;136;p16"/>
          <p:cNvSpPr/>
          <p:nvPr/>
        </p:nvSpPr>
        <p:spPr>
          <a:xfrm>
            <a:off x="6444406" y="4657725"/>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7" name="Google Shape;137;p16"/>
          <p:cNvSpPr/>
          <p:nvPr/>
        </p:nvSpPr>
        <p:spPr>
          <a:xfrm>
            <a:off x="571500" y="5162550"/>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8" name="Google Shape;138;p16"/>
          <p:cNvSpPr/>
          <p:nvPr/>
        </p:nvSpPr>
        <p:spPr>
          <a:xfrm>
            <a:off x="3185517" y="5162550"/>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39" name="Google Shape;139;p16"/>
          <p:cNvSpPr/>
          <p:nvPr/>
        </p:nvSpPr>
        <p:spPr>
          <a:xfrm>
            <a:off x="6444406" y="5162550"/>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40" name="Google Shape;140;p16"/>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dirty="0">
                <a:solidFill>
                  <a:srgbClr val="232F3E"/>
                </a:solidFill>
                <a:latin typeface="Poppins" panose="00000500000000000000" pitchFamily="2" charset="0"/>
                <a:ea typeface="Poppins"/>
                <a:cs typeface="Poppins" panose="00000500000000000000" pitchFamily="2" charset="0"/>
                <a:sym typeface="Poppins"/>
              </a:rPr>
              <a:t>Common Log Sources</a:t>
            </a:r>
            <a:endParaRPr dirty="0">
              <a:latin typeface="Poppins" panose="00000500000000000000" pitchFamily="2" charset="0"/>
              <a:cs typeface="Poppins" panose="00000500000000000000" pitchFamily="2" charset="0"/>
            </a:endParaRPr>
          </a:p>
        </p:txBody>
      </p:sp>
      <p:sp>
        <p:nvSpPr>
          <p:cNvPr id="141" name="Google Shape;141;p16"/>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pic>
        <p:nvPicPr>
          <p:cNvPr id="146" name="Google Shape;14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7" name="Google Shape;147;p17" descr="image.png"/>
          <p:cNvPicPr preferRelativeResize="0"/>
          <p:nvPr/>
        </p:nvPicPr>
        <p:blipFill rotWithShape="1">
          <a:blip r:embed="rId4">
            <a:alphaModFix/>
          </a:blip>
          <a:srcRect/>
          <a:stretch/>
        </p:blipFill>
        <p:spPr>
          <a:xfrm>
            <a:off x="571500" y="2690812"/>
            <a:ext cx="3492549" cy="2400300"/>
          </a:xfrm>
          <a:prstGeom prst="rect">
            <a:avLst/>
          </a:prstGeom>
          <a:noFill/>
          <a:ln>
            <a:noFill/>
          </a:ln>
        </p:spPr>
      </p:pic>
      <p:pic>
        <p:nvPicPr>
          <p:cNvPr id="148" name="Google Shape;148;p17" descr="image.png"/>
          <p:cNvPicPr preferRelativeResize="0"/>
          <p:nvPr/>
        </p:nvPicPr>
        <p:blipFill rotWithShape="1">
          <a:blip r:embed="rId5">
            <a:alphaModFix/>
          </a:blip>
          <a:srcRect/>
          <a:stretch/>
        </p:blipFill>
        <p:spPr>
          <a:xfrm>
            <a:off x="4349799" y="2690812"/>
            <a:ext cx="3492549" cy="2400300"/>
          </a:xfrm>
          <a:prstGeom prst="rect">
            <a:avLst/>
          </a:prstGeom>
          <a:noFill/>
          <a:ln>
            <a:noFill/>
          </a:ln>
        </p:spPr>
      </p:pic>
      <p:pic>
        <p:nvPicPr>
          <p:cNvPr id="149" name="Google Shape;149;p17" descr="image.png"/>
          <p:cNvPicPr preferRelativeResize="0"/>
          <p:nvPr/>
        </p:nvPicPr>
        <p:blipFill rotWithShape="1">
          <a:blip r:embed="rId6">
            <a:alphaModFix/>
          </a:blip>
          <a:srcRect/>
          <a:stretch/>
        </p:blipFill>
        <p:spPr>
          <a:xfrm>
            <a:off x="8128099" y="2690812"/>
            <a:ext cx="3492549" cy="2400300"/>
          </a:xfrm>
          <a:prstGeom prst="rect">
            <a:avLst/>
          </a:prstGeom>
          <a:noFill/>
          <a:ln>
            <a:noFill/>
          </a:ln>
        </p:spPr>
      </p:pic>
      <p:sp>
        <p:nvSpPr>
          <p:cNvPr id="150" name="Google Shape;150;p17"/>
          <p:cNvSpPr txBox="1"/>
          <p:nvPr/>
        </p:nvSpPr>
        <p:spPr>
          <a:xfrm>
            <a:off x="857250" y="357663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panose="00000500000000000000" pitchFamily="2" charset="0"/>
                <a:ea typeface="Poppins"/>
                <a:cs typeface="Poppins" panose="00000500000000000000" pitchFamily="2" charset="0"/>
                <a:sym typeface="Poppins"/>
              </a:rPr>
              <a:t>Tier 1: Security</a:t>
            </a:r>
            <a:endParaRPr>
              <a:latin typeface="Poppins" panose="00000500000000000000" pitchFamily="2" charset="0"/>
              <a:cs typeface="Poppins" panose="00000500000000000000" pitchFamily="2" charset="0"/>
            </a:endParaRPr>
          </a:p>
        </p:txBody>
      </p:sp>
      <p:sp>
        <p:nvSpPr>
          <p:cNvPr id="151" name="Google Shape;151;p17"/>
          <p:cNvSpPr txBox="1"/>
          <p:nvPr/>
        </p:nvSpPr>
        <p:spPr>
          <a:xfrm>
            <a:off x="857250" y="409098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CloudTrail, GuardDuty. Immutable, encrypted, long-term retention.</a:t>
            </a:r>
            <a:endParaRPr>
              <a:latin typeface="Poppins" panose="00000500000000000000" pitchFamily="2" charset="0"/>
              <a:cs typeface="Poppins" panose="00000500000000000000" pitchFamily="2" charset="0"/>
            </a:endParaRPr>
          </a:p>
        </p:txBody>
      </p:sp>
      <p:sp>
        <p:nvSpPr>
          <p:cNvPr id="152" name="Google Shape;152;p17"/>
          <p:cNvSpPr txBox="1"/>
          <p:nvPr/>
        </p:nvSpPr>
        <p:spPr>
          <a:xfrm>
            <a:off x="4635549" y="357663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panose="00000500000000000000" pitchFamily="2" charset="0"/>
                <a:ea typeface="Poppins"/>
                <a:cs typeface="Poppins" panose="00000500000000000000" pitchFamily="2" charset="0"/>
                <a:sym typeface="Poppins"/>
              </a:rPr>
              <a:t>Tier 2: Operational</a:t>
            </a:r>
            <a:endParaRPr>
              <a:latin typeface="Poppins" panose="00000500000000000000" pitchFamily="2" charset="0"/>
              <a:cs typeface="Poppins" panose="00000500000000000000" pitchFamily="2" charset="0"/>
            </a:endParaRPr>
          </a:p>
        </p:txBody>
      </p:sp>
      <p:sp>
        <p:nvSpPr>
          <p:cNvPr id="153" name="Google Shape;153;p17"/>
          <p:cNvSpPr txBox="1"/>
          <p:nvPr/>
        </p:nvSpPr>
        <p:spPr>
          <a:xfrm>
            <a:off x="4635549" y="409098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App logs, ALB logs. High frequency, used for daily incidents.</a:t>
            </a:r>
            <a:endParaRPr>
              <a:latin typeface="Poppins" panose="00000500000000000000" pitchFamily="2" charset="0"/>
              <a:cs typeface="Poppins" panose="00000500000000000000" pitchFamily="2" charset="0"/>
            </a:endParaRPr>
          </a:p>
        </p:txBody>
      </p:sp>
      <p:sp>
        <p:nvSpPr>
          <p:cNvPr id="154" name="Google Shape;154;p17"/>
          <p:cNvSpPr txBox="1"/>
          <p:nvPr/>
        </p:nvSpPr>
        <p:spPr>
          <a:xfrm>
            <a:off x="8413849" y="357663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panose="00000500000000000000" pitchFamily="2" charset="0"/>
                <a:ea typeface="Poppins"/>
                <a:cs typeface="Poppins" panose="00000500000000000000" pitchFamily="2" charset="0"/>
                <a:sym typeface="Poppins"/>
              </a:rPr>
              <a:t>Tier 3: Diagnostic</a:t>
            </a:r>
            <a:endParaRPr>
              <a:latin typeface="Poppins" panose="00000500000000000000" pitchFamily="2" charset="0"/>
              <a:cs typeface="Poppins" panose="00000500000000000000" pitchFamily="2" charset="0"/>
            </a:endParaRPr>
          </a:p>
        </p:txBody>
      </p:sp>
      <p:sp>
        <p:nvSpPr>
          <p:cNvPr id="155" name="Google Shape;155;p17"/>
          <p:cNvSpPr txBox="1"/>
          <p:nvPr/>
        </p:nvSpPr>
        <p:spPr>
          <a:xfrm>
            <a:off x="8413849" y="409098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Verbose debug output. Short retention (3-7 days), low value.</a:t>
            </a:r>
            <a:endParaRPr>
              <a:latin typeface="Poppins" panose="00000500000000000000" pitchFamily="2" charset="0"/>
              <a:cs typeface="Poppins" panose="00000500000000000000" pitchFamily="2" charset="0"/>
            </a:endParaRPr>
          </a:p>
        </p:txBody>
      </p:sp>
      <p:pic>
        <p:nvPicPr>
          <p:cNvPr id="156" name="Google Shape;156;p17" descr="image.png"/>
          <p:cNvPicPr preferRelativeResize="0"/>
          <p:nvPr/>
        </p:nvPicPr>
        <p:blipFill rotWithShape="1">
          <a:blip r:embed="rId7">
            <a:alphaModFix/>
          </a:blip>
          <a:srcRect/>
          <a:stretch/>
        </p:blipFill>
        <p:spPr>
          <a:xfrm>
            <a:off x="857250" y="3014662"/>
            <a:ext cx="381000" cy="381000"/>
          </a:xfrm>
          <a:prstGeom prst="rect">
            <a:avLst/>
          </a:prstGeom>
          <a:noFill/>
          <a:ln>
            <a:noFill/>
          </a:ln>
        </p:spPr>
      </p:pic>
      <p:pic>
        <p:nvPicPr>
          <p:cNvPr id="157" name="Google Shape;157;p17" descr="image.png"/>
          <p:cNvPicPr preferRelativeResize="0"/>
          <p:nvPr/>
        </p:nvPicPr>
        <p:blipFill rotWithShape="1">
          <a:blip r:embed="rId8">
            <a:alphaModFix/>
          </a:blip>
          <a:srcRect/>
          <a:stretch/>
        </p:blipFill>
        <p:spPr>
          <a:xfrm>
            <a:off x="4635549" y="3014662"/>
            <a:ext cx="381000" cy="381000"/>
          </a:xfrm>
          <a:prstGeom prst="rect">
            <a:avLst/>
          </a:prstGeom>
          <a:noFill/>
          <a:ln>
            <a:noFill/>
          </a:ln>
        </p:spPr>
      </p:pic>
      <p:pic>
        <p:nvPicPr>
          <p:cNvPr id="158" name="Google Shape;158;p17" descr="image.png"/>
          <p:cNvPicPr preferRelativeResize="0"/>
          <p:nvPr/>
        </p:nvPicPr>
        <p:blipFill rotWithShape="1">
          <a:blip r:embed="rId9">
            <a:alphaModFix/>
          </a:blip>
          <a:srcRect/>
          <a:stretch/>
        </p:blipFill>
        <p:spPr>
          <a:xfrm>
            <a:off x="8413849" y="3014662"/>
            <a:ext cx="381000" cy="381000"/>
          </a:xfrm>
          <a:prstGeom prst="rect">
            <a:avLst/>
          </a:prstGeom>
          <a:noFill/>
          <a:ln>
            <a:noFill/>
          </a:ln>
        </p:spPr>
      </p:pic>
      <p:sp>
        <p:nvSpPr>
          <p:cNvPr id="159" name="Google Shape;159;p17"/>
          <p:cNvSpPr txBox="1"/>
          <p:nvPr/>
        </p:nvSpPr>
        <p:spPr>
          <a:xfrm>
            <a:off x="762000" y="571500"/>
            <a:ext cx="11401500" cy="71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The Three-Tier Log Hierarchy </a:t>
            </a:r>
            <a:endParaRPr sz="2850" b="1">
              <a:solidFill>
                <a:srgbClr val="232F3E"/>
              </a:solidFill>
              <a:latin typeface="Poppins" panose="00000500000000000000" pitchFamily="2" charset="0"/>
              <a:ea typeface="Poppins"/>
              <a:cs typeface="Poppins" panose="00000500000000000000" pitchFamily="2" charset="0"/>
              <a:sym typeface="Poppins"/>
            </a:endParaRPr>
          </a:p>
          <a:p>
            <a:pPr marL="0" marR="0" lvl="0" indent="0" algn="l" rtl="0">
              <a:spcBef>
                <a:spcPts val="0"/>
              </a:spcBef>
              <a:spcAft>
                <a:spcPts val="0"/>
              </a:spcAft>
              <a:buNone/>
            </a:pPr>
            <a:r>
              <a:rPr lang="en-US" sz="1800">
                <a:solidFill>
                  <a:srgbClr val="232F3E"/>
                </a:solidFill>
                <a:latin typeface="Poppins" panose="00000500000000000000" pitchFamily="2" charset="0"/>
                <a:ea typeface="Poppins"/>
                <a:cs typeface="Poppins" panose="00000500000000000000" pitchFamily="2" charset="0"/>
                <a:sym typeface="Poppins"/>
              </a:rPr>
              <a:t>Organizing and dividing logs</a:t>
            </a:r>
            <a:endParaRPr sz="1800">
              <a:solidFill>
                <a:srgbClr val="232F3E"/>
              </a:solidFill>
              <a:latin typeface="Poppins" panose="00000500000000000000" pitchFamily="2" charset="0"/>
              <a:ea typeface="Poppins"/>
              <a:cs typeface="Poppins" panose="00000500000000000000" pitchFamily="2" charset="0"/>
              <a:sym typeface="Poppins"/>
            </a:endParaRPr>
          </a:p>
        </p:txBody>
      </p:sp>
      <p:sp>
        <p:nvSpPr>
          <p:cNvPr id="160" name="Google Shape;160;p17"/>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4427"/>
            <a:ext cx="12192000" cy="6858000"/>
          </a:xfrm>
          <a:prstGeom prst="rect">
            <a:avLst/>
          </a:prstGeom>
          <a:noFill/>
          <a:ln>
            <a:noFill/>
          </a:ln>
        </p:spPr>
      </p:pic>
      <p:sp>
        <p:nvSpPr>
          <p:cNvPr id="166" name="Google Shape;166;p18"/>
          <p:cNvSpPr txBox="1"/>
          <p:nvPr/>
        </p:nvSpPr>
        <p:spPr>
          <a:xfrm>
            <a:off x="571500" y="2402432"/>
            <a:ext cx="4000500" cy="1616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0" b="1" i="0" u="none" strike="noStrike" cap="none" dirty="0">
                <a:solidFill>
                  <a:srgbClr val="FF9900"/>
                </a:solidFill>
                <a:latin typeface="Poppins" panose="00000500000000000000" pitchFamily="2" charset="0"/>
                <a:ea typeface="Lato"/>
                <a:cs typeface="Poppins" panose="00000500000000000000" pitchFamily="2" charset="0"/>
                <a:sym typeface="Lato"/>
              </a:rPr>
              <a:t>$1</a:t>
            </a:r>
            <a:r>
              <a:rPr lang="en-US" sz="10500" b="1" dirty="0">
                <a:solidFill>
                  <a:srgbClr val="FF9900"/>
                </a:solidFill>
                <a:latin typeface="Poppins" panose="00000500000000000000" pitchFamily="2" charset="0"/>
                <a:ea typeface="Lato"/>
                <a:cs typeface="Poppins" panose="00000500000000000000" pitchFamily="2" charset="0"/>
                <a:sym typeface="Lato"/>
              </a:rPr>
              <a:t>8</a:t>
            </a:r>
            <a:r>
              <a:rPr lang="en-US" sz="10500" b="1" i="0" u="none" strike="noStrike" cap="none" dirty="0">
                <a:solidFill>
                  <a:srgbClr val="FF9900"/>
                </a:solidFill>
                <a:latin typeface="Poppins" panose="00000500000000000000" pitchFamily="2" charset="0"/>
                <a:ea typeface="Lato"/>
                <a:cs typeface="Poppins" panose="00000500000000000000" pitchFamily="2" charset="0"/>
                <a:sym typeface="Lato"/>
              </a:rPr>
              <a:t>k</a:t>
            </a:r>
            <a:endParaRPr dirty="0">
              <a:latin typeface="Poppins" panose="00000500000000000000" pitchFamily="2" charset="0"/>
              <a:cs typeface="Poppins" panose="00000500000000000000" pitchFamily="2" charset="0"/>
            </a:endParaRPr>
          </a:p>
        </p:txBody>
      </p:sp>
      <p:sp>
        <p:nvSpPr>
          <p:cNvPr id="167" name="Google Shape;167;p18"/>
          <p:cNvSpPr txBox="1"/>
          <p:nvPr/>
        </p:nvSpPr>
        <p:spPr>
          <a:xfrm>
            <a:off x="762000" y="4018532"/>
            <a:ext cx="30480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232F3E"/>
                </a:solidFill>
                <a:latin typeface="Poppins" panose="00000500000000000000" pitchFamily="2" charset="0"/>
                <a:ea typeface="Lato"/>
                <a:cs typeface="Poppins" panose="00000500000000000000" pitchFamily="2" charset="0"/>
                <a:sym typeface="Lato"/>
              </a:rPr>
              <a:t>Monthly Waste Potential</a:t>
            </a:r>
            <a:endParaRPr dirty="0">
              <a:latin typeface="Poppins" panose="00000500000000000000" pitchFamily="2" charset="0"/>
              <a:cs typeface="Poppins" panose="00000500000000000000" pitchFamily="2" charset="0"/>
            </a:endParaRPr>
          </a:p>
        </p:txBody>
      </p:sp>
      <p:sp>
        <p:nvSpPr>
          <p:cNvPr id="168" name="Google Shape;168;p18"/>
          <p:cNvSpPr txBox="1"/>
          <p:nvPr/>
        </p:nvSpPr>
        <p:spPr>
          <a:xfrm>
            <a:off x="4191000" y="2159793"/>
            <a:ext cx="7800975"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panose="00000500000000000000" pitchFamily="2" charset="0"/>
                <a:ea typeface="Poppins"/>
                <a:cs typeface="Poppins" panose="00000500000000000000" pitchFamily="2" charset="0"/>
                <a:sym typeface="Poppins"/>
              </a:rPr>
              <a:t>Forgotten Debug Logs</a:t>
            </a:r>
            <a:endParaRPr dirty="0">
              <a:latin typeface="Poppins" panose="00000500000000000000" pitchFamily="2" charset="0"/>
              <a:cs typeface="Poppins" panose="00000500000000000000" pitchFamily="2" charset="0"/>
            </a:endParaRPr>
          </a:p>
        </p:txBody>
      </p:sp>
      <p:sp>
        <p:nvSpPr>
          <p:cNvPr id="169" name="Google Shape;169;p18"/>
          <p:cNvSpPr txBox="1"/>
          <p:nvPr/>
        </p:nvSpPr>
        <p:spPr>
          <a:xfrm>
            <a:off x="4191000" y="2559843"/>
            <a:ext cx="74295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One e-commerce company discovered a five-figure bill caused by 40 Lambda functions logging at DEBUG level with no retention policy set.</a:t>
            </a:r>
            <a:endParaRPr dirty="0">
              <a:latin typeface="Poppins" panose="00000500000000000000" pitchFamily="2" charset="0"/>
              <a:cs typeface="Poppins" panose="00000500000000000000" pitchFamily="2" charset="0"/>
            </a:endParaRPr>
          </a:p>
        </p:txBody>
      </p:sp>
      <p:sp>
        <p:nvSpPr>
          <p:cNvPr id="170" name="Google Shape;170;p18"/>
          <p:cNvSpPr txBox="1"/>
          <p:nvPr/>
        </p:nvSpPr>
        <p:spPr>
          <a:xfrm>
            <a:off x="4191000" y="3371658"/>
            <a:ext cx="7429500"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dirty="0">
                <a:solidFill>
                  <a:srgbClr val="444444"/>
                </a:solidFill>
                <a:latin typeface="Poppins" panose="00000500000000000000" pitchFamily="2" charset="0"/>
                <a:ea typeface="Lato"/>
                <a:cs typeface="Poppins" panose="00000500000000000000" pitchFamily="2" charset="0"/>
                <a:sym typeface="Lato"/>
              </a:rPr>
              <a:t>The fix</a:t>
            </a:r>
            <a:r>
              <a:rPr lang="en-US" sz="1500" dirty="0">
                <a:solidFill>
                  <a:srgbClr val="444444"/>
                </a:solidFill>
                <a:latin typeface="Poppins" panose="00000500000000000000" pitchFamily="2" charset="0"/>
                <a:ea typeface="Lato"/>
                <a:cs typeface="Poppins" panose="00000500000000000000" pitchFamily="2" charset="0"/>
                <a:sym typeface="Lato"/>
              </a:rPr>
              <a:t> takes one hour:  a Terraform module that sets </a:t>
            </a:r>
            <a:r>
              <a:rPr lang="en-US" sz="1500" dirty="0" err="1">
                <a:solidFill>
                  <a:srgbClr val="444444"/>
                </a:solidFill>
                <a:latin typeface="Poppins" panose="00000500000000000000" pitchFamily="2" charset="0"/>
                <a:ea typeface="Lato"/>
                <a:cs typeface="Poppins" panose="00000500000000000000" pitchFamily="2" charset="0"/>
                <a:sym typeface="Lato"/>
              </a:rPr>
              <a:t>retention_in_days</a:t>
            </a:r>
            <a:r>
              <a:rPr lang="en-US" sz="1500" dirty="0">
                <a:solidFill>
                  <a:srgbClr val="444444"/>
                </a:solidFill>
                <a:latin typeface="Poppins" panose="00000500000000000000" pitchFamily="2" charset="0"/>
                <a:ea typeface="Lato"/>
                <a:cs typeface="Poppins" panose="00000500000000000000" pitchFamily="2" charset="0"/>
                <a:sym typeface="Lato"/>
              </a:rPr>
              <a:t> on every log group. </a:t>
            </a:r>
            <a:endParaRPr sz="1500" dirty="0">
              <a:solidFill>
                <a:srgbClr val="444444"/>
              </a:solidFill>
              <a:latin typeface="Poppins" panose="00000500000000000000" pitchFamily="2" charset="0"/>
              <a:ea typeface="Lato"/>
              <a:cs typeface="Poppins" panose="00000500000000000000" pitchFamily="2" charset="0"/>
              <a:sym typeface="Lato"/>
            </a:endParaRPr>
          </a:p>
          <a:p>
            <a:pPr marL="0" marR="0" lvl="0" indent="0" algn="l" rtl="0">
              <a:lnSpc>
                <a:spcPct val="140000"/>
              </a:lnSpc>
              <a:spcBef>
                <a:spcPts val="0"/>
              </a:spcBef>
              <a:spcAft>
                <a:spcPts val="0"/>
              </a:spcAft>
              <a:buNone/>
            </a:pPr>
            <a:r>
              <a:rPr lang="en-US" sz="1500" b="1" dirty="0">
                <a:solidFill>
                  <a:srgbClr val="444444"/>
                </a:solidFill>
                <a:latin typeface="Poppins" panose="00000500000000000000" pitchFamily="2" charset="0"/>
                <a:ea typeface="Lato"/>
                <a:cs typeface="Poppins" panose="00000500000000000000" pitchFamily="2" charset="0"/>
                <a:sym typeface="Lato"/>
              </a:rPr>
              <a:t>Lesson: </a:t>
            </a:r>
            <a:r>
              <a:rPr lang="en-US" sz="1500" dirty="0">
                <a:solidFill>
                  <a:srgbClr val="444444"/>
                </a:solidFill>
                <a:latin typeface="Poppins" panose="00000500000000000000" pitchFamily="2" charset="0"/>
                <a:ea typeface="Lato"/>
                <a:cs typeface="Poppins" panose="00000500000000000000" pitchFamily="2" charset="0"/>
                <a:sym typeface="Lato"/>
              </a:rPr>
              <a:t>Default retention should be part of every infrastructure template, not an afterthought. </a:t>
            </a:r>
            <a:endParaRPr dirty="0">
              <a:latin typeface="Poppins" panose="00000500000000000000" pitchFamily="2" charset="0"/>
              <a:cs typeface="Poppins" panose="00000500000000000000" pitchFamily="2" charset="0"/>
            </a:endParaRPr>
          </a:p>
        </p:txBody>
      </p:sp>
      <p:sp>
        <p:nvSpPr>
          <p:cNvPr id="171" name="Google Shape;171;p18"/>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The Cost of Infinite Storage</a:t>
            </a:r>
            <a:endParaRPr>
              <a:latin typeface="Poppins" panose="00000500000000000000" pitchFamily="2" charset="0"/>
              <a:cs typeface="Poppins" panose="00000500000000000000" pitchFamily="2" charset="0"/>
            </a:endParaRPr>
          </a:p>
        </p:txBody>
      </p:sp>
      <p:sp>
        <p:nvSpPr>
          <p:cNvPr id="172" name="Google Shape;172;p18"/>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78" name="Google Shape;178;p19"/>
          <p:cNvGraphicFramePr/>
          <p:nvPr/>
        </p:nvGraphicFramePr>
        <p:xfrm>
          <a:off x="571500" y="2605087"/>
          <a:ext cx="11048975" cy="2571750"/>
        </p:xfrm>
        <a:graphic>
          <a:graphicData uri="http://schemas.openxmlformats.org/drawingml/2006/table">
            <a:tbl>
              <a:tblPr firstRow="1" bandRow="1">
                <a:noFill/>
                <a:tableStyleId>{3796CCCC-D195-4ECD-B664-7D1EE737A1EF}</a:tableStyleId>
              </a:tblPr>
              <a:tblGrid>
                <a:gridCol w="3704925">
                  <a:extLst>
                    <a:ext uri="{9D8B030D-6E8A-4147-A177-3AD203B41FA5}">
                      <a16:colId xmlns:a16="http://schemas.microsoft.com/office/drawing/2014/main" val="20000"/>
                    </a:ext>
                  </a:extLst>
                </a:gridCol>
                <a:gridCol w="3021350">
                  <a:extLst>
                    <a:ext uri="{9D8B030D-6E8A-4147-A177-3AD203B41FA5}">
                      <a16:colId xmlns:a16="http://schemas.microsoft.com/office/drawing/2014/main" val="20001"/>
                    </a:ext>
                  </a:extLst>
                </a:gridCol>
                <a:gridCol w="4322700">
                  <a:extLst>
                    <a:ext uri="{9D8B030D-6E8A-4147-A177-3AD203B41FA5}">
                      <a16:colId xmlns:a16="http://schemas.microsoft.com/office/drawing/2014/main" val="20002"/>
                    </a:ext>
                  </a:extLst>
                </a:gridCol>
              </a:tblGrid>
              <a:tr h="514350">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Category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Hot Storage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Cold Archive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extLst>
                  <a:ext uri="{0D108BD9-81ED-4DB2-BD59-A6C34878D82A}">
                    <a16:rowId xmlns:a16="http://schemas.microsoft.com/office/drawing/2014/main" val="10000"/>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CloudTrail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Indefinite (Glacier)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Security Events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90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1-2 Years (S3 IA)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App Logs (Prod)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30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1 Year (Glacier)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Debug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3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Expire Immediately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4"/>
                  </a:ext>
                </a:extLst>
              </a:tr>
            </a:tbl>
          </a:graphicData>
        </a:graphic>
      </p:graphicFrame>
      <p:sp>
        <p:nvSpPr>
          <p:cNvPr id="179" name="Google Shape;179;p19"/>
          <p:cNvSpPr/>
          <p:nvPr/>
        </p:nvSpPr>
        <p:spPr>
          <a:xfrm>
            <a:off x="571500" y="3648075"/>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0" name="Google Shape;180;p19"/>
          <p:cNvSpPr/>
          <p:nvPr/>
        </p:nvSpPr>
        <p:spPr>
          <a:xfrm>
            <a:off x="4276427" y="3648075"/>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1" name="Google Shape;181;p19"/>
          <p:cNvSpPr/>
          <p:nvPr/>
        </p:nvSpPr>
        <p:spPr>
          <a:xfrm>
            <a:off x="7297787" y="3648075"/>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2" name="Google Shape;182;p19"/>
          <p:cNvSpPr/>
          <p:nvPr/>
        </p:nvSpPr>
        <p:spPr>
          <a:xfrm>
            <a:off x="571500" y="4152900"/>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3" name="Google Shape;183;p19"/>
          <p:cNvSpPr/>
          <p:nvPr/>
        </p:nvSpPr>
        <p:spPr>
          <a:xfrm>
            <a:off x="4276427" y="4152900"/>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4" name="Google Shape;184;p19"/>
          <p:cNvSpPr/>
          <p:nvPr/>
        </p:nvSpPr>
        <p:spPr>
          <a:xfrm>
            <a:off x="7297787" y="4152900"/>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5" name="Google Shape;185;p19"/>
          <p:cNvSpPr/>
          <p:nvPr/>
        </p:nvSpPr>
        <p:spPr>
          <a:xfrm>
            <a:off x="571500" y="4657725"/>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6" name="Google Shape;186;p19"/>
          <p:cNvSpPr/>
          <p:nvPr/>
        </p:nvSpPr>
        <p:spPr>
          <a:xfrm>
            <a:off x="4276427" y="4657725"/>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7" name="Google Shape;187;p19"/>
          <p:cNvSpPr/>
          <p:nvPr/>
        </p:nvSpPr>
        <p:spPr>
          <a:xfrm>
            <a:off x="7297787" y="4657725"/>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8" name="Google Shape;188;p19"/>
          <p:cNvSpPr/>
          <p:nvPr/>
        </p:nvSpPr>
        <p:spPr>
          <a:xfrm>
            <a:off x="571500" y="5162550"/>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89" name="Google Shape;189;p19"/>
          <p:cNvSpPr/>
          <p:nvPr/>
        </p:nvSpPr>
        <p:spPr>
          <a:xfrm>
            <a:off x="4276427" y="5162550"/>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90" name="Google Shape;190;p19"/>
          <p:cNvSpPr/>
          <p:nvPr/>
        </p:nvSpPr>
        <p:spPr>
          <a:xfrm>
            <a:off x="7297787" y="5162550"/>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191" name="Google Shape;191;p19"/>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Recommended Retention Strategy</a:t>
            </a:r>
            <a:endParaRPr>
              <a:latin typeface="Poppins" panose="00000500000000000000" pitchFamily="2" charset="0"/>
              <a:cs typeface="Poppins" panose="00000500000000000000" pitchFamily="2" charset="0"/>
            </a:endParaRPr>
          </a:p>
        </p:txBody>
      </p:sp>
      <p:sp>
        <p:nvSpPr>
          <p:cNvPr id="192" name="Google Shape;192;p19"/>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pic>
        <p:nvPicPr>
          <p:cNvPr id="197" name="Google Shape;19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8" name="Google Shape;198;p20" descr="image.png"/>
          <p:cNvPicPr preferRelativeResize="0"/>
          <p:nvPr/>
        </p:nvPicPr>
        <p:blipFill rotWithShape="1">
          <a:blip r:embed="rId4">
            <a:alphaModFix/>
          </a:blip>
          <a:srcRect/>
          <a:stretch/>
        </p:blipFill>
        <p:spPr>
          <a:xfrm>
            <a:off x="6286500" y="1985962"/>
            <a:ext cx="5334000" cy="3810000"/>
          </a:xfrm>
          <a:prstGeom prst="rect">
            <a:avLst/>
          </a:prstGeom>
          <a:noFill/>
          <a:ln>
            <a:noFill/>
          </a:ln>
        </p:spPr>
      </p:pic>
      <p:sp>
        <p:nvSpPr>
          <p:cNvPr id="199" name="Google Shape;199;p20"/>
          <p:cNvSpPr txBox="1"/>
          <p:nvPr/>
        </p:nvSpPr>
        <p:spPr>
          <a:xfrm>
            <a:off x="571500" y="3214687"/>
            <a:ext cx="5334000" cy="64633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Storing logs is not monitoring. Monitoring is the active process of extracting signal from raw data.</a:t>
            </a:r>
            <a:endParaRPr>
              <a:latin typeface="Poppins" panose="00000500000000000000" pitchFamily="2" charset="0"/>
              <a:cs typeface="Poppins" panose="00000500000000000000" pitchFamily="2" charset="0"/>
            </a:endParaRPr>
          </a:p>
        </p:txBody>
      </p:sp>
      <p:sp>
        <p:nvSpPr>
          <p:cNvPr id="200" name="Google Shape;200;p20"/>
          <p:cNvSpPr txBox="1"/>
          <p:nvPr/>
        </p:nvSpPr>
        <p:spPr>
          <a:xfrm>
            <a:off x="571500" y="3890962"/>
            <a:ext cx="5334000"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Avoid </a:t>
            </a:r>
            <a:r>
              <a:rPr lang="en-US" sz="1500" b="1" i="0" u="none" strike="noStrike" cap="none">
                <a:solidFill>
                  <a:srgbClr val="444444"/>
                </a:solidFill>
                <a:latin typeface="Poppins" panose="00000500000000000000" pitchFamily="2" charset="0"/>
                <a:ea typeface="Lato"/>
                <a:cs typeface="Poppins" panose="00000500000000000000" pitchFamily="2" charset="0"/>
                <a:sym typeface="Lato"/>
              </a:rPr>
              <a:t>Silent Failures</a:t>
            </a: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 Users might report "broken" features for weeks before a bug is found if alerts only track CPU/Memory.</a:t>
            </a:r>
            <a:endParaRPr>
              <a:latin typeface="Poppins" panose="00000500000000000000" pitchFamily="2" charset="0"/>
              <a:cs typeface="Poppins" panose="00000500000000000000" pitchFamily="2" charset="0"/>
            </a:endParaRPr>
          </a:p>
        </p:txBody>
      </p:sp>
      <p:pic>
        <p:nvPicPr>
          <p:cNvPr id="201" name="Google Shape;201;p20" descr="image.png"/>
          <p:cNvPicPr preferRelativeResize="0"/>
          <p:nvPr/>
        </p:nvPicPr>
        <p:blipFill rotWithShape="1">
          <a:blip r:embed="rId5">
            <a:alphaModFix/>
          </a:blip>
          <a:srcRect/>
          <a:stretch/>
        </p:blipFill>
        <p:spPr>
          <a:xfrm>
            <a:off x="7239000" y="2176462"/>
            <a:ext cx="3429000" cy="3429000"/>
          </a:xfrm>
          <a:prstGeom prst="rect">
            <a:avLst/>
          </a:prstGeom>
          <a:noFill/>
          <a:ln>
            <a:noFill/>
          </a:ln>
        </p:spPr>
      </p:pic>
      <p:sp>
        <p:nvSpPr>
          <p:cNvPr id="202" name="Google Shape;202;p20"/>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Monitoring: Data to Signal</a:t>
            </a:r>
            <a:endParaRPr>
              <a:latin typeface="Poppins" panose="00000500000000000000" pitchFamily="2" charset="0"/>
              <a:cs typeface="Poppins" panose="00000500000000000000" pitchFamily="2" charset="0"/>
            </a:endParaRPr>
          </a:p>
        </p:txBody>
      </p:sp>
      <p:sp>
        <p:nvSpPr>
          <p:cNvPr id="203" name="Google Shape;203;p20"/>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7"/>
        <p:cNvGrpSpPr/>
        <p:nvPr/>
      </p:nvGrpSpPr>
      <p:grpSpPr>
        <a:xfrm>
          <a:off x="0" y="0"/>
          <a:ext cx="0" cy="0"/>
          <a:chOff x="0" y="0"/>
          <a:chExt cx="0" cy="0"/>
        </a:xfrm>
      </p:grpSpPr>
      <p:pic>
        <p:nvPicPr>
          <p:cNvPr id="208" name="Google Shape;20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 name="Google Shape;209;p21"/>
          <p:cNvSpPr txBox="1"/>
          <p:nvPr/>
        </p:nvSpPr>
        <p:spPr>
          <a:xfrm>
            <a:off x="1381125" y="3052762"/>
            <a:ext cx="10239375"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Poppins" panose="00000500000000000000" pitchFamily="2" charset="0"/>
                <a:ea typeface="Lato"/>
                <a:cs typeface="Poppins" panose="00000500000000000000" pitchFamily="2" charset="0"/>
                <a:sym typeface="Lato"/>
              </a:rPr>
              <a:t>HTTP 5xx Errors:</a:t>
            </a: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 Track server-side crashes to trigger P1 alerts immediately.</a:t>
            </a:r>
            <a:endParaRPr>
              <a:latin typeface="Poppins" panose="00000500000000000000" pitchFamily="2" charset="0"/>
              <a:cs typeface="Poppins" panose="00000500000000000000" pitchFamily="2" charset="0"/>
            </a:endParaRPr>
          </a:p>
        </p:txBody>
      </p:sp>
      <p:sp>
        <p:nvSpPr>
          <p:cNvPr id="210" name="Google Shape;210;p21"/>
          <p:cNvSpPr txBox="1"/>
          <p:nvPr/>
        </p:nvSpPr>
        <p:spPr>
          <a:xfrm>
            <a:off x="1381125" y="3509962"/>
            <a:ext cx="10239375"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Poppins" panose="00000500000000000000" pitchFamily="2" charset="0"/>
                <a:ea typeface="Lato"/>
                <a:cs typeface="Poppins" panose="00000500000000000000" pitchFamily="2" charset="0"/>
                <a:sym typeface="Lato"/>
              </a:rPr>
              <a:t>Lambda Cold Starts:</a:t>
            </a: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 Monitor init duration patterns to optimize performance.</a:t>
            </a:r>
            <a:endParaRPr>
              <a:latin typeface="Poppins" panose="00000500000000000000" pitchFamily="2" charset="0"/>
              <a:cs typeface="Poppins" panose="00000500000000000000" pitchFamily="2" charset="0"/>
            </a:endParaRPr>
          </a:p>
        </p:txBody>
      </p:sp>
      <p:sp>
        <p:nvSpPr>
          <p:cNvPr id="211" name="Google Shape;211;p21"/>
          <p:cNvSpPr txBox="1"/>
          <p:nvPr/>
        </p:nvSpPr>
        <p:spPr>
          <a:xfrm>
            <a:off x="1381125" y="3967162"/>
            <a:ext cx="10239375"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Poppins" panose="00000500000000000000" pitchFamily="2" charset="0"/>
                <a:ea typeface="Lato"/>
                <a:cs typeface="Poppins" panose="00000500000000000000" pitchFamily="2" charset="0"/>
                <a:sym typeface="Lato"/>
              </a:rPr>
              <a:t>IAM AccessDenied:</a:t>
            </a: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 Detect credential compromise or misconfigurations in real-time.</a:t>
            </a:r>
            <a:endParaRPr>
              <a:latin typeface="Poppins" panose="00000500000000000000" pitchFamily="2" charset="0"/>
              <a:cs typeface="Poppins" panose="00000500000000000000" pitchFamily="2" charset="0"/>
            </a:endParaRPr>
          </a:p>
        </p:txBody>
      </p:sp>
      <p:sp>
        <p:nvSpPr>
          <p:cNvPr id="212" name="Google Shape;212;p21"/>
          <p:cNvSpPr txBox="1"/>
          <p:nvPr/>
        </p:nvSpPr>
        <p:spPr>
          <a:xfrm>
            <a:off x="1381125" y="4424362"/>
            <a:ext cx="10239375" cy="32316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Poppins" panose="00000500000000000000" pitchFamily="2" charset="0"/>
                <a:ea typeface="Lato"/>
                <a:cs typeface="Poppins" panose="00000500000000000000" pitchFamily="2" charset="0"/>
                <a:sym typeface="Lato"/>
              </a:rPr>
              <a:t>Ingestion Drops:</a:t>
            </a: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 Alert if log flow stops, indicating a broken agent or pipeline.</a:t>
            </a:r>
            <a:endParaRPr>
              <a:latin typeface="Poppins" panose="00000500000000000000" pitchFamily="2" charset="0"/>
              <a:cs typeface="Poppins" panose="00000500000000000000" pitchFamily="2" charset="0"/>
            </a:endParaRPr>
          </a:p>
        </p:txBody>
      </p:sp>
      <p:pic>
        <p:nvPicPr>
          <p:cNvPr id="213" name="Google Shape;213;p21" descr="image.png"/>
          <p:cNvPicPr preferRelativeResize="0"/>
          <p:nvPr/>
        </p:nvPicPr>
        <p:blipFill rotWithShape="1">
          <a:blip r:embed="rId4">
            <a:alphaModFix/>
          </a:blip>
          <a:srcRect/>
          <a:stretch/>
        </p:blipFill>
        <p:spPr>
          <a:xfrm>
            <a:off x="952500" y="3081337"/>
            <a:ext cx="228600" cy="247650"/>
          </a:xfrm>
          <a:prstGeom prst="rect">
            <a:avLst/>
          </a:prstGeom>
          <a:noFill/>
          <a:ln>
            <a:noFill/>
          </a:ln>
        </p:spPr>
      </p:pic>
      <p:pic>
        <p:nvPicPr>
          <p:cNvPr id="214" name="Google Shape;214;p21" descr="image.png"/>
          <p:cNvPicPr preferRelativeResize="0"/>
          <p:nvPr/>
        </p:nvPicPr>
        <p:blipFill rotWithShape="1">
          <a:blip r:embed="rId5">
            <a:alphaModFix/>
          </a:blip>
          <a:srcRect/>
          <a:stretch/>
        </p:blipFill>
        <p:spPr>
          <a:xfrm>
            <a:off x="952500" y="3538537"/>
            <a:ext cx="200025" cy="247650"/>
          </a:xfrm>
          <a:prstGeom prst="rect">
            <a:avLst/>
          </a:prstGeom>
          <a:noFill/>
          <a:ln>
            <a:noFill/>
          </a:ln>
        </p:spPr>
      </p:pic>
      <p:pic>
        <p:nvPicPr>
          <p:cNvPr id="215" name="Google Shape;215;p21" descr="image.png"/>
          <p:cNvPicPr preferRelativeResize="0"/>
          <p:nvPr/>
        </p:nvPicPr>
        <p:blipFill rotWithShape="1">
          <a:blip r:embed="rId6">
            <a:alphaModFix/>
          </a:blip>
          <a:srcRect/>
          <a:stretch/>
        </p:blipFill>
        <p:spPr>
          <a:xfrm>
            <a:off x="952500" y="3995737"/>
            <a:ext cx="285750" cy="247650"/>
          </a:xfrm>
          <a:prstGeom prst="rect">
            <a:avLst/>
          </a:prstGeom>
          <a:noFill/>
          <a:ln>
            <a:noFill/>
          </a:ln>
        </p:spPr>
      </p:pic>
      <p:pic>
        <p:nvPicPr>
          <p:cNvPr id="216" name="Google Shape;216;p21" descr="image.png"/>
          <p:cNvPicPr preferRelativeResize="0"/>
          <p:nvPr/>
        </p:nvPicPr>
        <p:blipFill rotWithShape="1">
          <a:blip r:embed="rId7">
            <a:alphaModFix/>
          </a:blip>
          <a:srcRect/>
          <a:stretch/>
        </p:blipFill>
        <p:spPr>
          <a:xfrm>
            <a:off x="952500" y="4452937"/>
            <a:ext cx="228600" cy="247650"/>
          </a:xfrm>
          <a:prstGeom prst="rect">
            <a:avLst/>
          </a:prstGeom>
          <a:noFill/>
          <a:ln>
            <a:noFill/>
          </a:ln>
        </p:spPr>
      </p:pic>
      <p:sp>
        <p:nvSpPr>
          <p:cNvPr id="217" name="Google Shape;217;p21"/>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panose="00000500000000000000" pitchFamily="2" charset="0"/>
                <a:ea typeface="Poppins"/>
                <a:cs typeface="Poppins" panose="00000500000000000000" pitchFamily="2" charset="0"/>
                <a:sym typeface="Poppins"/>
              </a:rPr>
              <a:t>Metric Filters to Implement</a:t>
            </a:r>
            <a:endParaRPr>
              <a:latin typeface="Poppins" panose="00000500000000000000" pitchFamily="2" charset="0"/>
              <a:cs typeface="Poppins" panose="00000500000000000000" pitchFamily="2" charset="0"/>
            </a:endParaRPr>
          </a:p>
        </p:txBody>
      </p:sp>
      <p:sp>
        <p:nvSpPr>
          <p:cNvPr id="218" name="Google Shape;218;p21"/>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4" name="Google Shape;224;p22" descr="image.png"/>
          <p:cNvPicPr preferRelativeResize="0"/>
          <p:nvPr/>
        </p:nvPicPr>
        <p:blipFill rotWithShape="1">
          <a:blip r:embed="rId4">
            <a:alphaModFix/>
          </a:blip>
          <a:srcRect/>
          <a:stretch/>
        </p:blipFill>
        <p:spPr>
          <a:xfrm>
            <a:off x="571500" y="2557462"/>
            <a:ext cx="3492549" cy="2667000"/>
          </a:xfrm>
          <a:prstGeom prst="rect">
            <a:avLst/>
          </a:prstGeom>
          <a:noFill/>
          <a:ln>
            <a:noFill/>
          </a:ln>
        </p:spPr>
      </p:pic>
      <p:pic>
        <p:nvPicPr>
          <p:cNvPr id="225" name="Google Shape;225;p22" descr="image.png"/>
          <p:cNvPicPr preferRelativeResize="0"/>
          <p:nvPr/>
        </p:nvPicPr>
        <p:blipFill rotWithShape="1">
          <a:blip r:embed="rId5">
            <a:alphaModFix/>
          </a:blip>
          <a:srcRect/>
          <a:stretch/>
        </p:blipFill>
        <p:spPr>
          <a:xfrm>
            <a:off x="4349799" y="2557462"/>
            <a:ext cx="3492549" cy="2667000"/>
          </a:xfrm>
          <a:prstGeom prst="rect">
            <a:avLst/>
          </a:prstGeom>
          <a:noFill/>
          <a:ln>
            <a:noFill/>
          </a:ln>
        </p:spPr>
      </p:pic>
      <p:pic>
        <p:nvPicPr>
          <p:cNvPr id="226" name="Google Shape;226;p22" descr="image.png"/>
          <p:cNvPicPr preferRelativeResize="0"/>
          <p:nvPr/>
        </p:nvPicPr>
        <p:blipFill rotWithShape="1">
          <a:blip r:embed="rId6">
            <a:alphaModFix/>
          </a:blip>
          <a:srcRect/>
          <a:stretch/>
        </p:blipFill>
        <p:spPr>
          <a:xfrm>
            <a:off x="8128099" y="2557462"/>
            <a:ext cx="3492549" cy="2667000"/>
          </a:xfrm>
          <a:prstGeom prst="rect">
            <a:avLst/>
          </a:prstGeom>
          <a:noFill/>
          <a:ln>
            <a:noFill/>
          </a:ln>
        </p:spPr>
      </p:pic>
      <p:sp>
        <p:nvSpPr>
          <p:cNvPr id="227" name="Google Shape;227;p22"/>
          <p:cNvSpPr txBox="1"/>
          <p:nvPr/>
        </p:nvSpPr>
        <p:spPr>
          <a:xfrm>
            <a:off x="857250" y="344328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panose="00000500000000000000" pitchFamily="2" charset="0"/>
                <a:ea typeface="Poppins"/>
                <a:cs typeface="Poppins" panose="00000500000000000000" pitchFamily="2" charset="0"/>
                <a:sym typeface="Poppins"/>
              </a:rPr>
              <a:t>Cost Explosion</a:t>
            </a:r>
            <a:endParaRPr>
              <a:latin typeface="Poppins" panose="00000500000000000000" pitchFamily="2" charset="0"/>
              <a:cs typeface="Poppins" panose="00000500000000000000" pitchFamily="2" charset="0"/>
            </a:endParaRPr>
          </a:p>
        </p:txBody>
      </p:sp>
      <p:sp>
        <p:nvSpPr>
          <p:cNvPr id="228" name="Google Shape;228;p22"/>
          <p:cNvSpPr txBox="1"/>
          <p:nvPr/>
        </p:nvSpPr>
        <p:spPr>
          <a:xfrm>
            <a:off x="857250" y="395763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CloudWatch ingestion is expensive ($0.50/GB). Use EMF or S3 directly for high volume.</a:t>
            </a:r>
            <a:endParaRPr lang="en-US" dirty="0">
              <a:latin typeface="Poppins" panose="00000500000000000000" pitchFamily="2" charset="0"/>
              <a:cs typeface="Poppins" panose="00000500000000000000" pitchFamily="2" charset="0"/>
            </a:endParaRPr>
          </a:p>
        </p:txBody>
      </p:sp>
      <p:sp>
        <p:nvSpPr>
          <p:cNvPr id="229" name="Google Shape;229;p22"/>
          <p:cNvSpPr txBox="1"/>
          <p:nvPr/>
        </p:nvSpPr>
        <p:spPr>
          <a:xfrm>
            <a:off x="4635549" y="344328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panose="00000500000000000000" pitchFamily="2" charset="0"/>
                <a:ea typeface="Poppins"/>
                <a:cs typeface="Poppins" panose="00000500000000000000" pitchFamily="2" charset="0"/>
                <a:sym typeface="Poppins"/>
              </a:rPr>
              <a:t>Log Loss</a:t>
            </a:r>
            <a:endParaRPr lang="en-US" dirty="0">
              <a:latin typeface="Poppins" panose="00000500000000000000" pitchFamily="2" charset="0"/>
              <a:cs typeface="Poppins" panose="00000500000000000000" pitchFamily="2" charset="0"/>
            </a:endParaRPr>
          </a:p>
        </p:txBody>
      </p:sp>
      <p:sp>
        <p:nvSpPr>
          <p:cNvPr id="230" name="Google Shape;230;p22"/>
          <p:cNvSpPr txBox="1"/>
          <p:nvPr/>
        </p:nvSpPr>
        <p:spPr>
          <a:xfrm>
            <a:off x="4635549" y="395763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Gaps are invisible unless monitored. Use "log heartbeat" metrics for integrity.</a:t>
            </a:r>
            <a:endParaRPr dirty="0">
              <a:latin typeface="Poppins" panose="00000500000000000000" pitchFamily="2" charset="0"/>
              <a:cs typeface="Poppins" panose="00000500000000000000" pitchFamily="2" charset="0"/>
            </a:endParaRPr>
          </a:p>
        </p:txBody>
      </p:sp>
      <p:sp>
        <p:nvSpPr>
          <p:cNvPr id="231" name="Google Shape;231;p22"/>
          <p:cNvSpPr txBox="1"/>
          <p:nvPr/>
        </p:nvSpPr>
        <p:spPr>
          <a:xfrm>
            <a:off x="8413849" y="3443287"/>
            <a:ext cx="3067102"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panose="00000500000000000000" pitchFamily="2" charset="0"/>
                <a:ea typeface="Poppins"/>
                <a:cs typeface="Poppins" panose="00000500000000000000" pitchFamily="2" charset="0"/>
                <a:sym typeface="Poppins"/>
              </a:rPr>
              <a:t>Security</a:t>
            </a:r>
            <a:endParaRPr lang="en-US" dirty="0">
              <a:latin typeface="Poppins" panose="00000500000000000000" pitchFamily="2" charset="0"/>
              <a:cs typeface="Poppins" panose="00000500000000000000" pitchFamily="2" charset="0"/>
            </a:endParaRPr>
          </a:p>
        </p:txBody>
      </p:sp>
      <p:sp>
        <p:nvSpPr>
          <p:cNvPr id="232" name="Google Shape;232;p22"/>
          <p:cNvSpPr txBox="1"/>
          <p:nvPr/>
        </p:nvSpPr>
        <p:spPr>
          <a:xfrm>
            <a:off x="8413849" y="3957637"/>
            <a:ext cx="2921049" cy="96949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Poppins" panose="00000500000000000000" pitchFamily="2" charset="0"/>
                <a:ea typeface="Lato"/>
                <a:cs typeface="Poppins" panose="00000500000000000000" pitchFamily="2" charset="0"/>
                <a:sym typeface="Lato"/>
              </a:rPr>
              <a:t>Logs contain PII and keys. </a:t>
            </a:r>
            <a:r>
              <a:rPr lang="en-US" sz="1500" b="0" i="0" u="none" strike="noStrike" cap="none" dirty="0">
                <a:solidFill>
                  <a:srgbClr val="444444"/>
                </a:solidFill>
                <a:latin typeface="Poppins" panose="00000500000000000000" pitchFamily="2" charset="0"/>
                <a:ea typeface="Lato"/>
                <a:cs typeface="Poppins" panose="00000500000000000000" pitchFamily="2" charset="0"/>
                <a:sym typeface="Lato"/>
              </a:rPr>
              <a:t>Use S3 Object Lock and KMS for encryption.</a:t>
            </a:r>
            <a:endParaRPr dirty="0">
              <a:latin typeface="Poppins" panose="00000500000000000000" pitchFamily="2" charset="0"/>
              <a:cs typeface="Poppins" panose="00000500000000000000" pitchFamily="2" charset="0"/>
            </a:endParaRPr>
          </a:p>
        </p:txBody>
      </p:sp>
      <p:pic>
        <p:nvPicPr>
          <p:cNvPr id="233" name="Google Shape;233;p22" descr="image.png"/>
          <p:cNvPicPr preferRelativeResize="0"/>
          <p:nvPr/>
        </p:nvPicPr>
        <p:blipFill rotWithShape="1">
          <a:blip r:embed="rId7">
            <a:alphaModFix/>
          </a:blip>
          <a:srcRect/>
          <a:stretch/>
        </p:blipFill>
        <p:spPr>
          <a:xfrm>
            <a:off x="857250" y="2881312"/>
            <a:ext cx="381000" cy="381000"/>
          </a:xfrm>
          <a:prstGeom prst="rect">
            <a:avLst/>
          </a:prstGeom>
          <a:noFill/>
          <a:ln>
            <a:noFill/>
          </a:ln>
        </p:spPr>
      </p:pic>
      <p:pic>
        <p:nvPicPr>
          <p:cNvPr id="234" name="Google Shape;234;p22" descr="image.png"/>
          <p:cNvPicPr preferRelativeResize="0"/>
          <p:nvPr/>
        </p:nvPicPr>
        <p:blipFill rotWithShape="1">
          <a:blip r:embed="rId8">
            <a:alphaModFix/>
          </a:blip>
          <a:srcRect/>
          <a:stretch/>
        </p:blipFill>
        <p:spPr>
          <a:xfrm>
            <a:off x="4635549" y="2881312"/>
            <a:ext cx="476250" cy="381000"/>
          </a:xfrm>
          <a:prstGeom prst="rect">
            <a:avLst/>
          </a:prstGeom>
          <a:noFill/>
          <a:ln>
            <a:noFill/>
          </a:ln>
        </p:spPr>
      </p:pic>
      <p:pic>
        <p:nvPicPr>
          <p:cNvPr id="235" name="Google Shape;235;p22" descr="image.png"/>
          <p:cNvPicPr preferRelativeResize="0"/>
          <p:nvPr/>
        </p:nvPicPr>
        <p:blipFill rotWithShape="1">
          <a:blip r:embed="rId9">
            <a:alphaModFix/>
          </a:blip>
          <a:srcRect/>
          <a:stretch/>
        </p:blipFill>
        <p:spPr>
          <a:xfrm>
            <a:off x="8413849" y="2881312"/>
            <a:ext cx="476250" cy="381000"/>
          </a:xfrm>
          <a:prstGeom prst="rect">
            <a:avLst/>
          </a:prstGeom>
          <a:noFill/>
          <a:ln>
            <a:noFill/>
          </a:ln>
        </p:spPr>
      </p:pic>
      <p:sp>
        <p:nvSpPr>
          <p:cNvPr id="236" name="Google Shape;236;p22"/>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dirty="0">
                <a:solidFill>
                  <a:srgbClr val="232F3E"/>
                </a:solidFill>
                <a:latin typeface="Poppins" panose="00000500000000000000" pitchFamily="2" charset="0"/>
                <a:ea typeface="Poppins"/>
                <a:cs typeface="Poppins" panose="00000500000000000000" pitchFamily="2" charset="0"/>
                <a:sym typeface="Poppins"/>
              </a:rPr>
              <a:t>Risks and Challenges</a:t>
            </a:r>
            <a:endParaRPr dirty="0">
              <a:latin typeface="Poppins" panose="00000500000000000000" pitchFamily="2" charset="0"/>
              <a:cs typeface="Poppins" panose="00000500000000000000" pitchFamily="2" charset="0"/>
            </a:endParaRPr>
          </a:p>
        </p:txBody>
      </p:sp>
      <p:sp>
        <p:nvSpPr>
          <p:cNvPr id="237" name="Google Shape;237;p22"/>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a:extLst>
            <a:ext uri="{FF2B5EF4-FFF2-40B4-BE49-F238E27FC236}">
              <a16:creationId xmlns:a16="http://schemas.microsoft.com/office/drawing/2014/main" id="{8C7DFC90-5EEA-FD95-7E56-BCBCFB6FB47D}"/>
            </a:ext>
          </a:extLst>
        </p:cNvPr>
        <p:cNvGrpSpPr/>
        <p:nvPr/>
      </p:nvGrpSpPr>
      <p:grpSpPr>
        <a:xfrm>
          <a:off x="0" y="0"/>
          <a:ext cx="0" cy="0"/>
          <a:chOff x="0" y="0"/>
          <a:chExt cx="0" cy="0"/>
        </a:xfrm>
      </p:grpSpPr>
      <p:pic>
        <p:nvPicPr>
          <p:cNvPr id="223" name="Google Shape;223;p22" descr="image.png">
            <a:extLst>
              <a:ext uri="{FF2B5EF4-FFF2-40B4-BE49-F238E27FC236}">
                <a16:creationId xmlns:a16="http://schemas.microsoft.com/office/drawing/2014/main" id="{7899F039-325D-4ECA-4E85-8ACD6BB17D2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4" name="Google Shape;224;p22" descr="image.png">
            <a:extLst>
              <a:ext uri="{FF2B5EF4-FFF2-40B4-BE49-F238E27FC236}">
                <a16:creationId xmlns:a16="http://schemas.microsoft.com/office/drawing/2014/main" id="{DE44E66A-B9B5-631C-A2B4-BF2405968F90}"/>
              </a:ext>
            </a:extLst>
          </p:cNvPr>
          <p:cNvPicPr preferRelativeResize="0"/>
          <p:nvPr/>
        </p:nvPicPr>
        <p:blipFill rotWithShape="1">
          <a:blip r:embed="rId4">
            <a:alphaModFix/>
          </a:blip>
          <a:srcRect/>
          <a:stretch/>
        </p:blipFill>
        <p:spPr>
          <a:xfrm>
            <a:off x="600075" y="1314640"/>
            <a:ext cx="11201400" cy="5343145"/>
          </a:xfrm>
          <a:prstGeom prst="rect">
            <a:avLst/>
          </a:prstGeom>
          <a:noFill/>
          <a:ln>
            <a:noFill/>
          </a:ln>
        </p:spPr>
      </p:pic>
      <p:sp>
        <p:nvSpPr>
          <p:cNvPr id="227" name="Google Shape;227;p22">
            <a:extLst>
              <a:ext uri="{FF2B5EF4-FFF2-40B4-BE49-F238E27FC236}">
                <a16:creationId xmlns:a16="http://schemas.microsoft.com/office/drawing/2014/main" id="{C7BF1A0F-9093-A9CF-C27B-5F7BB32BD995}"/>
              </a:ext>
            </a:extLst>
          </p:cNvPr>
          <p:cNvSpPr txBox="1"/>
          <p:nvPr/>
        </p:nvSpPr>
        <p:spPr>
          <a:xfrm>
            <a:off x="711196" y="1499436"/>
            <a:ext cx="8824689"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High-Regulation Sectors( Healthcare &amp; Banking)</a:t>
            </a:r>
            <a:endParaRPr dirty="0">
              <a:latin typeface="Poppins" panose="00000500000000000000" pitchFamily="2" charset="0"/>
              <a:cs typeface="Poppins" panose="00000500000000000000" pitchFamily="2" charset="0"/>
            </a:endParaRPr>
          </a:p>
        </p:txBody>
      </p:sp>
      <p:sp>
        <p:nvSpPr>
          <p:cNvPr id="228" name="Google Shape;228;p22">
            <a:extLst>
              <a:ext uri="{FF2B5EF4-FFF2-40B4-BE49-F238E27FC236}">
                <a16:creationId xmlns:a16="http://schemas.microsoft.com/office/drawing/2014/main" id="{3506F3D2-0772-4350-6428-689BAE35C2B4}"/>
              </a:ext>
            </a:extLst>
          </p:cNvPr>
          <p:cNvSpPr txBox="1"/>
          <p:nvPr/>
        </p:nvSpPr>
        <p:spPr>
          <a:xfrm>
            <a:off x="762000" y="3319718"/>
            <a:ext cx="10553700" cy="603242"/>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Government: Air-gapped systems and log immutability. Access to logs must itself be logged(meta-audit trail)</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Consulting: Log every consultant’s access to client environments to prove contractual security compliance</a:t>
            </a:r>
            <a:endParaRPr dirty="0">
              <a:latin typeface="Poppins" panose="00000500000000000000" pitchFamily="2" charset="0"/>
              <a:cs typeface="Poppins" panose="00000500000000000000" pitchFamily="2" charset="0"/>
            </a:endParaRPr>
          </a:p>
        </p:txBody>
      </p:sp>
      <p:sp>
        <p:nvSpPr>
          <p:cNvPr id="236" name="Google Shape;236;p22">
            <a:extLst>
              <a:ext uri="{FF2B5EF4-FFF2-40B4-BE49-F238E27FC236}">
                <a16:creationId xmlns:a16="http://schemas.microsoft.com/office/drawing/2014/main" id="{B271ED00-9BE5-BD6C-F1EC-91180A07D1F6}"/>
              </a:ext>
            </a:extLst>
          </p:cNvPr>
          <p:cNvSpPr txBox="1"/>
          <p:nvPr/>
        </p:nvSpPr>
        <p:spPr>
          <a:xfrm>
            <a:off x="762000" y="571500"/>
            <a:ext cx="1140142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latin typeface="Poppins" panose="00000500000000000000" pitchFamily="2" charset="0"/>
                <a:cs typeface="Poppins" panose="00000500000000000000" pitchFamily="2" charset="0"/>
              </a:rPr>
              <a:t>Log management by sector</a:t>
            </a:r>
            <a:endParaRPr sz="2400" b="1" dirty="0">
              <a:latin typeface="Poppins" panose="00000500000000000000" pitchFamily="2" charset="0"/>
              <a:cs typeface="Poppins" panose="00000500000000000000" pitchFamily="2" charset="0"/>
            </a:endParaRPr>
          </a:p>
        </p:txBody>
      </p:sp>
      <p:sp>
        <p:nvSpPr>
          <p:cNvPr id="237" name="Google Shape;237;p22">
            <a:extLst>
              <a:ext uri="{FF2B5EF4-FFF2-40B4-BE49-F238E27FC236}">
                <a16:creationId xmlns:a16="http://schemas.microsoft.com/office/drawing/2014/main" id="{3D97F86A-78A4-1197-3CB2-C4AF8C5F5C42}"/>
              </a:ext>
            </a:extLst>
          </p:cNvPr>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2" name="Google Shape;227;p22">
            <a:extLst>
              <a:ext uri="{FF2B5EF4-FFF2-40B4-BE49-F238E27FC236}">
                <a16:creationId xmlns:a16="http://schemas.microsoft.com/office/drawing/2014/main" id="{FDBBD7EF-4ADB-0BF9-27CD-A2AF6EFAA5F6}"/>
              </a:ext>
            </a:extLst>
          </p:cNvPr>
          <p:cNvSpPr txBox="1"/>
          <p:nvPr/>
        </p:nvSpPr>
        <p:spPr>
          <a:xfrm>
            <a:off x="711196" y="2917804"/>
            <a:ext cx="701312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Security-Focused Sectors (Government &amp; Defense) </a:t>
            </a:r>
            <a:endParaRPr dirty="0">
              <a:latin typeface="Poppins" panose="00000500000000000000" pitchFamily="2" charset="0"/>
              <a:cs typeface="Poppins" panose="00000500000000000000" pitchFamily="2" charset="0"/>
            </a:endParaRPr>
          </a:p>
        </p:txBody>
      </p:sp>
      <p:sp>
        <p:nvSpPr>
          <p:cNvPr id="3" name="Google Shape;228;p22">
            <a:extLst>
              <a:ext uri="{FF2B5EF4-FFF2-40B4-BE49-F238E27FC236}">
                <a16:creationId xmlns:a16="http://schemas.microsoft.com/office/drawing/2014/main" id="{F5BE4ED6-3296-D91B-4126-052460A00F8A}"/>
              </a:ext>
            </a:extLst>
          </p:cNvPr>
          <p:cNvSpPr txBox="1"/>
          <p:nvPr/>
        </p:nvSpPr>
        <p:spPr>
          <a:xfrm>
            <a:off x="762000" y="1928062"/>
            <a:ext cx="9622971" cy="904863"/>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Healthcare: Must follow HIPAA(6- year retention). Every access to a patient record must be traceable</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Banking: Daily log reviews and real-time alerts. Transaction logs scrubbed of credit card numbers before storage.</a:t>
            </a:r>
            <a:endParaRPr dirty="0">
              <a:latin typeface="Poppins" panose="00000500000000000000" pitchFamily="2" charset="0"/>
              <a:cs typeface="Poppins" panose="00000500000000000000" pitchFamily="2" charset="0"/>
            </a:endParaRPr>
          </a:p>
        </p:txBody>
      </p:sp>
      <p:sp>
        <p:nvSpPr>
          <p:cNvPr id="4" name="Google Shape;227;p22">
            <a:extLst>
              <a:ext uri="{FF2B5EF4-FFF2-40B4-BE49-F238E27FC236}">
                <a16:creationId xmlns:a16="http://schemas.microsoft.com/office/drawing/2014/main" id="{70F1E685-8864-BEBA-57B6-451488D01489}"/>
              </a:ext>
            </a:extLst>
          </p:cNvPr>
          <p:cNvSpPr txBox="1"/>
          <p:nvPr/>
        </p:nvSpPr>
        <p:spPr>
          <a:xfrm>
            <a:off x="711196" y="4315776"/>
            <a:ext cx="10197195" cy="323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High-Volume/ Technical Sectors (IT, SaaS &amp; Analytics) </a:t>
            </a:r>
            <a:endParaRPr lang="en-US" dirty="0">
              <a:latin typeface="Poppins" panose="00000500000000000000" pitchFamily="2" charset="0"/>
              <a:cs typeface="Poppins" panose="00000500000000000000" pitchFamily="2" charset="0"/>
            </a:endParaRPr>
          </a:p>
        </p:txBody>
      </p:sp>
      <p:sp>
        <p:nvSpPr>
          <p:cNvPr id="5" name="Google Shape;228;p22">
            <a:extLst>
              <a:ext uri="{FF2B5EF4-FFF2-40B4-BE49-F238E27FC236}">
                <a16:creationId xmlns:a16="http://schemas.microsoft.com/office/drawing/2014/main" id="{94707257-BE8C-3F40-93DA-A0CCEE381852}"/>
              </a:ext>
            </a:extLst>
          </p:cNvPr>
          <p:cNvSpPr txBox="1"/>
          <p:nvPr/>
        </p:nvSpPr>
        <p:spPr>
          <a:xfrm>
            <a:off x="762000" y="4739049"/>
            <a:ext cx="10553700" cy="904863"/>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IT Services: Must separate CI/CD pipeline logs to prevent supply chain attacks</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Multi-tenant Saas: Must use separate log buckets per customer to </a:t>
            </a:r>
            <a:r>
              <a:rPr lang="en-US" dirty="0" err="1">
                <a:latin typeface="Poppins" panose="00000500000000000000" pitchFamily="2" charset="0"/>
                <a:cs typeface="Poppins" panose="00000500000000000000" pitchFamily="2" charset="0"/>
              </a:rPr>
              <a:t>prevemt</a:t>
            </a:r>
            <a:r>
              <a:rPr lang="en-US" dirty="0">
                <a:latin typeface="Poppins" panose="00000500000000000000" pitchFamily="2" charset="0"/>
                <a:cs typeface="Poppins" panose="00000500000000000000" pitchFamily="2" charset="0"/>
              </a:rPr>
              <a:t> cross-tenant data leakage</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Analytics-</a:t>
            </a:r>
            <a:r>
              <a:rPr lang="en-US" dirty="0" err="1">
                <a:latin typeface="Poppins" panose="00000500000000000000" pitchFamily="2" charset="0"/>
                <a:cs typeface="Poppins" panose="00000500000000000000" pitchFamily="2" charset="0"/>
              </a:rPr>
              <a:t>Drivem</a:t>
            </a:r>
            <a:r>
              <a:rPr lang="en-US" dirty="0">
                <a:latin typeface="Poppins" panose="00000500000000000000" pitchFamily="2" charset="0"/>
                <a:cs typeface="Poppins" panose="00000500000000000000" pitchFamily="2" charset="0"/>
              </a:rPr>
              <a:t>: Kafka as a buffer to route logs to both real-time monitoring and long-term “Data Lakes” for BI</a:t>
            </a:r>
            <a:endParaRPr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57211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a:extLst>
            <a:ext uri="{FF2B5EF4-FFF2-40B4-BE49-F238E27FC236}">
              <a16:creationId xmlns:a16="http://schemas.microsoft.com/office/drawing/2014/main" id="{C26A51AA-3EC2-395C-998E-A42EF34C4C85}"/>
            </a:ext>
          </a:extLst>
        </p:cNvPr>
        <p:cNvGrpSpPr/>
        <p:nvPr/>
      </p:nvGrpSpPr>
      <p:grpSpPr>
        <a:xfrm>
          <a:off x="0" y="0"/>
          <a:ext cx="0" cy="0"/>
          <a:chOff x="0" y="0"/>
          <a:chExt cx="0" cy="0"/>
        </a:xfrm>
      </p:grpSpPr>
      <p:pic>
        <p:nvPicPr>
          <p:cNvPr id="223" name="Google Shape;223;p22" descr="image.png">
            <a:extLst>
              <a:ext uri="{FF2B5EF4-FFF2-40B4-BE49-F238E27FC236}">
                <a16:creationId xmlns:a16="http://schemas.microsoft.com/office/drawing/2014/main" id="{F99914AD-D99D-D307-3067-3961B521B97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4" name="Google Shape;224;p22" descr="image.png">
            <a:extLst>
              <a:ext uri="{FF2B5EF4-FFF2-40B4-BE49-F238E27FC236}">
                <a16:creationId xmlns:a16="http://schemas.microsoft.com/office/drawing/2014/main" id="{B746EC36-9DDF-7988-BCEA-624D87637427}"/>
              </a:ext>
            </a:extLst>
          </p:cNvPr>
          <p:cNvPicPr preferRelativeResize="0"/>
          <p:nvPr/>
        </p:nvPicPr>
        <p:blipFill rotWithShape="1">
          <a:blip r:embed="rId4">
            <a:alphaModFix/>
          </a:blip>
          <a:srcRect/>
          <a:stretch/>
        </p:blipFill>
        <p:spPr>
          <a:xfrm>
            <a:off x="600075" y="1314640"/>
            <a:ext cx="11201400" cy="5343145"/>
          </a:xfrm>
          <a:prstGeom prst="rect">
            <a:avLst/>
          </a:prstGeom>
          <a:noFill/>
          <a:ln>
            <a:noFill/>
          </a:ln>
        </p:spPr>
      </p:pic>
      <p:sp>
        <p:nvSpPr>
          <p:cNvPr id="227" name="Google Shape;227;p22">
            <a:extLst>
              <a:ext uri="{FF2B5EF4-FFF2-40B4-BE49-F238E27FC236}">
                <a16:creationId xmlns:a16="http://schemas.microsoft.com/office/drawing/2014/main" id="{9A51AE84-E711-11BE-7BFF-BA42C01FA149}"/>
              </a:ext>
            </a:extLst>
          </p:cNvPr>
          <p:cNvSpPr txBox="1"/>
          <p:nvPr/>
        </p:nvSpPr>
        <p:spPr>
          <a:xfrm>
            <a:off x="711196" y="1499436"/>
            <a:ext cx="8824689"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Small organizations</a:t>
            </a:r>
            <a:endParaRPr dirty="0">
              <a:latin typeface="Poppins" panose="00000500000000000000" pitchFamily="2" charset="0"/>
              <a:cs typeface="Poppins" panose="00000500000000000000" pitchFamily="2" charset="0"/>
            </a:endParaRPr>
          </a:p>
        </p:txBody>
      </p:sp>
      <p:sp>
        <p:nvSpPr>
          <p:cNvPr id="228" name="Google Shape;228;p22">
            <a:extLst>
              <a:ext uri="{FF2B5EF4-FFF2-40B4-BE49-F238E27FC236}">
                <a16:creationId xmlns:a16="http://schemas.microsoft.com/office/drawing/2014/main" id="{DF98B86D-93C8-203F-901A-27D2936561D7}"/>
              </a:ext>
            </a:extLst>
          </p:cNvPr>
          <p:cNvSpPr txBox="1"/>
          <p:nvPr/>
        </p:nvSpPr>
        <p:spPr>
          <a:xfrm>
            <a:off x="762000" y="3319718"/>
            <a:ext cx="10553700" cy="1206484"/>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Standardize on structured JSON logging</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Implement environment separation</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Define retention by log type</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Introduce a SIEM</a:t>
            </a:r>
            <a:endParaRPr dirty="0">
              <a:latin typeface="Poppins" panose="00000500000000000000" pitchFamily="2" charset="0"/>
              <a:cs typeface="Poppins" panose="00000500000000000000" pitchFamily="2" charset="0"/>
            </a:endParaRPr>
          </a:p>
        </p:txBody>
      </p:sp>
      <p:sp>
        <p:nvSpPr>
          <p:cNvPr id="236" name="Google Shape;236;p22">
            <a:extLst>
              <a:ext uri="{FF2B5EF4-FFF2-40B4-BE49-F238E27FC236}">
                <a16:creationId xmlns:a16="http://schemas.microsoft.com/office/drawing/2014/main" id="{38AD8407-6FDE-6A3F-58D7-6CA763180B4E}"/>
              </a:ext>
            </a:extLst>
          </p:cNvPr>
          <p:cNvSpPr txBox="1"/>
          <p:nvPr/>
        </p:nvSpPr>
        <p:spPr>
          <a:xfrm>
            <a:off x="762000" y="571500"/>
            <a:ext cx="1140142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latin typeface="Poppins" panose="00000500000000000000" pitchFamily="2" charset="0"/>
                <a:cs typeface="Poppins" panose="00000500000000000000" pitchFamily="2" charset="0"/>
              </a:rPr>
              <a:t>Log management by organization size</a:t>
            </a:r>
            <a:endParaRPr sz="2400" b="1" dirty="0">
              <a:latin typeface="Poppins" panose="00000500000000000000" pitchFamily="2" charset="0"/>
              <a:cs typeface="Poppins" panose="00000500000000000000" pitchFamily="2" charset="0"/>
            </a:endParaRPr>
          </a:p>
        </p:txBody>
      </p:sp>
      <p:sp>
        <p:nvSpPr>
          <p:cNvPr id="237" name="Google Shape;237;p22">
            <a:extLst>
              <a:ext uri="{FF2B5EF4-FFF2-40B4-BE49-F238E27FC236}">
                <a16:creationId xmlns:a16="http://schemas.microsoft.com/office/drawing/2014/main" id="{1CE23D32-E3D5-2408-F529-18D78F3D9D5E}"/>
              </a:ext>
            </a:extLst>
          </p:cNvPr>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
        <p:nvSpPr>
          <p:cNvPr id="2" name="Google Shape;227;p22">
            <a:extLst>
              <a:ext uri="{FF2B5EF4-FFF2-40B4-BE49-F238E27FC236}">
                <a16:creationId xmlns:a16="http://schemas.microsoft.com/office/drawing/2014/main" id="{2EC2E6EB-4721-7567-1DF5-9A8A8E1DD8D8}"/>
              </a:ext>
            </a:extLst>
          </p:cNvPr>
          <p:cNvSpPr txBox="1"/>
          <p:nvPr/>
        </p:nvSpPr>
        <p:spPr>
          <a:xfrm>
            <a:off x="711196" y="2975658"/>
            <a:ext cx="701312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Mid-sized organizations</a:t>
            </a:r>
            <a:endParaRPr dirty="0">
              <a:latin typeface="Poppins" panose="00000500000000000000" pitchFamily="2" charset="0"/>
              <a:cs typeface="Poppins" panose="00000500000000000000" pitchFamily="2" charset="0"/>
            </a:endParaRPr>
          </a:p>
        </p:txBody>
      </p:sp>
      <p:sp>
        <p:nvSpPr>
          <p:cNvPr id="3" name="Google Shape;228;p22">
            <a:extLst>
              <a:ext uri="{FF2B5EF4-FFF2-40B4-BE49-F238E27FC236}">
                <a16:creationId xmlns:a16="http://schemas.microsoft.com/office/drawing/2014/main" id="{C4661045-1F87-3781-B090-4E49A501747A}"/>
              </a:ext>
            </a:extLst>
          </p:cNvPr>
          <p:cNvSpPr txBox="1"/>
          <p:nvPr/>
        </p:nvSpPr>
        <p:spPr>
          <a:xfrm>
            <a:off x="762000" y="1928062"/>
            <a:ext cx="9622971" cy="904863"/>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Cloud-native audit logs on day one</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Centralize in one place</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Basic alerts</a:t>
            </a:r>
          </a:p>
        </p:txBody>
      </p:sp>
      <p:sp>
        <p:nvSpPr>
          <p:cNvPr id="4" name="Google Shape;227;p22">
            <a:extLst>
              <a:ext uri="{FF2B5EF4-FFF2-40B4-BE49-F238E27FC236}">
                <a16:creationId xmlns:a16="http://schemas.microsoft.com/office/drawing/2014/main" id="{D5F2DF3E-9A9F-4E39-4B2C-87A1254FB157}"/>
              </a:ext>
            </a:extLst>
          </p:cNvPr>
          <p:cNvSpPr txBox="1"/>
          <p:nvPr/>
        </p:nvSpPr>
        <p:spPr>
          <a:xfrm>
            <a:off x="711196" y="4801817"/>
            <a:ext cx="10197195" cy="323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0073BB"/>
                </a:solidFill>
                <a:latin typeface="Poppins" panose="00000500000000000000" pitchFamily="2" charset="0"/>
                <a:cs typeface="Poppins" panose="00000500000000000000" pitchFamily="2" charset="0"/>
                <a:sym typeface="Poppins"/>
              </a:rPr>
              <a:t>Large / enterprise organizations</a:t>
            </a:r>
            <a:endParaRPr lang="en-US" dirty="0">
              <a:latin typeface="Poppins" panose="00000500000000000000" pitchFamily="2" charset="0"/>
              <a:cs typeface="Poppins" panose="00000500000000000000" pitchFamily="2" charset="0"/>
            </a:endParaRPr>
          </a:p>
        </p:txBody>
      </p:sp>
      <p:sp>
        <p:nvSpPr>
          <p:cNvPr id="5" name="Google Shape;228;p22">
            <a:extLst>
              <a:ext uri="{FF2B5EF4-FFF2-40B4-BE49-F238E27FC236}">
                <a16:creationId xmlns:a16="http://schemas.microsoft.com/office/drawing/2014/main" id="{8128EF5A-E2CD-1D1B-B36D-3EA45DE2DCDF}"/>
              </a:ext>
            </a:extLst>
          </p:cNvPr>
          <p:cNvSpPr txBox="1"/>
          <p:nvPr/>
        </p:nvSpPr>
        <p:spPr>
          <a:xfrm>
            <a:off x="819150" y="5400598"/>
            <a:ext cx="10553700" cy="904863"/>
          </a:xfrm>
          <a:prstGeom prst="rect">
            <a:avLst/>
          </a:prstGeom>
          <a:noFill/>
          <a:ln>
            <a:noFill/>
          </a:ln>
        </p:spPr>
        <p:txBody>
          <a:bodyPr spcFirstLastPara="1" wrap="square" lIns="0" tIns="0" rIns="0" bIns="0" anchor="t" anchorCtr="0">
            <a:spAutoFit/>
          </a:bodyPr>
          <a:lstStyle/>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Log sources</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Kafka cluster – the shock absorber</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Flink stream processor</a:t>
            </a:r>
            <a:endParaRPr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80679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oogle Shape;242;p23" descr="image.png">
            <a:extLst>
              <a:ext uri="{FF2B5EF4-FFF2-40B4-BE49-F238E27FC236}">
                <a16:creationId xmlns:a16="http://schemas.microsoft.com/office/drawing/2014/main" id="{472EA2AD-BFD2-0CB3-0546-28AE55F20765}"/>
              </a:ext>
            </a:extLst>
          </p:cNvPr>
          <p:cNvPicPr preferRelativeResize="0"/>
          <p:nvPr/>
        </p:nvPicPr>
        <p:blipFill rotWithShape="1">
          <a:blip r:embed="rId2"/>
          <a:stretch/>
        </p:blipFill>
        <p:spPr>
          <a:xfrm>
            <a:off x="0" y="0"/>
            <a:ext cx="12192000" cy="6858000"/>
          </a:xfrm>
          <a:prstGeom prst="rect">
            <a:avLst/>
          </a:prstGeom>
          <a:noFill/>
        </p:spPr>
      </p:pic>
      <p:sp>
        <p:nvSpPr>
          <p:cNvPr id="3" name="Google Shape;236;p22">
            <a:extLst>
              <a:ext uri="{FF2B5EF4-FFF2-40B4-BE49-F238E27FC236}">
                <a16:creationId xmlns:a16="http://schemas.microsoft.com/office/drawing/2014/main" id="{8F9A1170-4FD1-D74B-7A56-156A0A9CA284}"/>
              </a:ext>
            </a:extLst>
          </p:cNvPr>
          <p:cNvSpPr txBox="1"/>
          <p:nvPr/>
        </p:nvSpPr>
        <p:spPr>
          <a:xfrm>
            <a:off x="395287" y="1199847"/>
            <a:ext cx="1140142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latin typeface="Poppins" panose="00000500000000000000" pitchFamily="2" charset="0"/>
                <a:cs typeface="Poppins" panose="00000500000000000000" pitchFamily="2" charset="0"/>
              </a:rPr>
              <a:t>Real Failures – what people missed</a:t>
            </a:r>
            <a:endParaRPr sz="2400" b="1" dirty="0">
              <a:latin typeface="Poppins" panose="00000500000000000000" pitchFamily="2" charset="0"/>
              <a:cs typeface="Poppins" panose="00000500000000000000" pitchFamily="2" charset="0"/>
            </a:endParaRPr>
          </a:p>
        </p:txBody>
      </p:sp>
      <p:pic>
        <p:nvPicPr>
          <p:cNvPr id="5" name="Picture 4" descr="The image features a stylized cloud icon with a distinctive orange color, showcasing a simple, minimalist design with a central cloud shape and a subtle, elongated shape suggesting motion or wind.&#10;&#10;AI-generated content may be incorrect.">
            <a:extLst>
              <a:ext uri="{FF2B5EF4-FFF2-40B4-BE49-F238E27FC236}">
                <a16:creationId xmlns:a16="http://schemas.microsoft.com/office/drawing/2014/main" id="{ADF3F009-F373-CD13-3B7C-6270A05857C3}"/>
              </a:ext>
            </a:extLst>
          </p:cNvPr>
          <p:cNvPicPr>
            <a:picLocks noChangeAspect="1"/>
          </p:cNvPicPr>
          <p:nvPr/>
        </p:nvPicPr>
        <p:blipFill>
          <a:blip r:embed="rId3"/>
          <a:stretch>
            <a:fillRect/>
          </a:stretch>
        </p:blipFill>
        <p:spPr>
          <a:xfrm>
            <a:off x="10020831" y="448552"/>
            <a:ext cx="554212" cy="586468"/>
          </a:xfrm>
          <a:prstGeom prst="ellipse">
            <a:avLst/>
          </a:prstGeom>
        </p:spPr>
      </p:pic>
      <p:sp>
        <p:nvSpPr>
          <p:cNvPr id="6" name="Google Shape;96;p14">
            <a:extLst>
              <a:ext uri="{FF2B5EF4-FFF2-40B4-BE49-F238E27FC236}">
                <a16:creationId xmlns:a16="http://schemas.microsoft.com/office/drawing/2014/main" id="{D8F68041-CF2A-2328-BC73-91ED34B2E225}"/>
              </a:ext>
            </a:extLst>
          </p:cNvPr>
          <p:cNvSpPr txBox="1"/>
          <p:nvPr/>
        </p:nvSpPr>
        <p:spPr>
          <a:xfrm>
            <a:off x="395287" y="2019840"/>
            <a:ext cx="11401425" cy="361945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1" dirty="0">
                <a:latin typeface="Poppins" panose="00000500000000000000" pitchFamily="2" charset="0"/>
                <a:cs typeface="Poppins" panose="00000500000000000000" pitchFamily="2" charset="0"/>
              </a:rPr>
              <a:t>Cloudflare log pipeline wipeout</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A misconfiguration in Cloudflare’s internal login pipeline caused a cascading failure that wiped approximately 55% of all customer logs over a 3.5-hour window. Customers relying on those logs for security monitoring and compliance had a gap in their audit trail they could not recover.</a:t>
            </a:r>
          </a:p>
          <a:p>
            <a:pPr marR="0" lvl="0" algn="l" rtl="0">
              <a:lnSpc>
                <a:spcPct val="140000"/>
              </a:lnSpc>
              <a:spcBef>
                <a:spcPts val="0"/>
              </a:spcBef>
              <a:spcAft>
                <a:spcPts val="0"/>
              </a:spcAft>
            </a:pPr>
            <a:r>
              <a:rPr lang="en-US" b="1" dirty="0">
                <a:latin typeface="Poppins" panose="00000500000000000000" pitchFamily="2" charset="0"/>
                <a:cs typeface="Poppins" panose="00000500000000000000" pitchFamily="2" charset="0"/>
              </a:rPr>
              <a:t>Microsoft Sentinel – logs down for 3 weeks</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A bug in Microsoft’s own internal monitoring agents disrupted log data collection for services like Microsoft Sentinel and Entra. For nearly 3 weeks, logs were inconsistent, creating blind spots for thousands of customers who were relying on those logs for threat detection.</a:t>
            </a:r>
          </a:p>
          <a:p>
            <a:pPr marR="0" lvl="0" algn="l" rtl="0">
              <a:lnSpc>
                <a:spcPct val="140000"/>
              </a:lnSpc>
              <a:spcBef>
                <a:spcPts val="0"/>
              </a:spcBef>
              <a:spcAft>
                <a:spcPts val="0"/>
              </a:spcAft>
            </a:pPr>
            <a:r>
              <a:rPr lang="en-US" b="1" dirty="0">
                <a:latin typeface="Poppins" panose="00000500000000000000" pitchFamily="2" charset="0"/>
                <a:cs typeface="Poppins" panose="00000500000000000000" pitchFamily="2" charset="0"/>
              </a:rPr>
              <a:t>Memorial Healthcare Systems – terminated employee, one year access</a:t>
            </a:r>
          </a:p>
          <a:p>
            <a:pPr marL="285750" marR="0" lvl="0" indent="-285750" algn="l" rtl="0">
              <a:lnSpc>
                <a:spcPct val="140000"/>
              </a:lnSpc>
              <a:spcBef>
                <a:spcPts val="0"/>
              </a:spcBef>
              <a:spcAft>
                <a:spcPts val="0"/>
              </a:spcAft>
              <a:buFont typeface="Arial" panose="020B0604020202020204" pitchFamily="34" charset="0"/>
              <a:buChar char="•"/>
            </a:pPr>
            <a:r>
              <a:rPr lang="en-US" dirty="0">
                <a:latin typeface="Poppins" panose="00000500000000000000" pitchFamily="2" charset="0"/>
                <a:cs typeface="Poppins" panose="00000500000000000000" pitchFamily="2" charset="0"/>
              </a:rPr>
              <a:t>A former employee’s credentials were used to access electronic patient health information almost every day for a year, affecting 80,000 individuals. The organization had logs – but never reviewed them. The logs would have shown the unauthorized access pattern on day one if anyone had been monitoring them.</a:t>
            </a:r>
            <a:endParaRPr dirty="0">
              <a:latin typeface="Poppins" panose="00000500000000000000" pitchFamily="2" charset="0"/>
              <a:cs typeface="Poppins" panose="00000500000000000000" pitchFamily="2" charset="0"/>
            </a:endParaRPr>
          </a:p>
        </p:txBody>
      </p:sp>
      <p:pic>
        <p:nvPicPr>
          <p:cNvPr id="10" name="Picture 9" descr="The image shows a minimalistic, white logo with a blue Wi-Fi symbol.&#10;&#10;AI-generated content may be incorrect.">
            <a:extLst>
              <a:ext uri="{FF2B5EF4-FFF2-40B4-BE49-F238E27FC236}">
                <a16:creationId xmlns:a16="http://schemas.microsoft.com/office/drawing/2014/main" id="{F949EC7B-BD3C-77C9-2666-5BCFE1C7B9EE}"/>
              </a:ext>
            </a:extLst>
          </p:cNvPr>
          <p:cNvPicPr>
            <a:picLocks noChangeAspect="1"/>
          </p:cNvPicPr>
          <p:nvPr/>
        </p:nvPicPr>
        <p:blipFill>
          <a:blip r:embed="rId4"/>
          <a:stretch>
            <a:fillRect/>
          </a:stretch>
        </p:blipFill>
        <p:spPr>
          <a:xfrm>
            <a:off x="8619774" y="240389"/>
            <a:ext cx="1333500" cy="1002794"/>
          </a:xfrm>
          <a:prstGeom prst="rect">
            <a:avLst/>
          </a:prstGeom>
        </p:spPr>
      </p:pic>
      <p:pic>
        <p:nvPicPr>
          <p:cNvPr id="14" name="Picture 13" descr="The image displays a visual representation of the Microsoft Entra logo.&#10;&#10;AI-generated content may be incorrect.">
            <a:extLst>
              <a:ext uri="{FF2B5EF4-FFF2-40B4-BE49-F238E27FC236}">
                <a16:creationId xmlns:a16="http://schemas.microsoft.com/office/drawing/2014/main" id="{53591CA2-9DA5-8D1D-AED1-4DD55E69DB7A}"/>
              </a:ext>
            </a:extLst>
          </p:cNvPr>
          <p:cNvPicPr>
            <a:picLocks noChangeAspect="1"/>
          </p:cNvPicPr>
          <p:nvPr/>
        </p:nvPicPr>
        <p:blipFill>
          <a:blip r:embed="rId5"/>
          <a:stretch>
            <a:fillRect/>
          </a:stretch>
        </p:blipFill>
        <p:spPr>
          <a:xfrm>
            <a:off x="10642600" y="404380"/>
            <a:ext cx="1221669" cy="586468"/>
          </a:xfrm>
          <a:prstGeom prst="rect">
            <a:avLst/>
          </a:prstGeom>
        </p:spPr>
      </p:pic>
    </p:spTree>
    <p:extLst>
      <p:ext uri="{BB962C8B-B14F-4D97-AF65-F5344CB8AC3E}">
        <p14:creationId xmlns:p14="http://schemas.microsoft.com/office/powerpoint/2010/main" val="4194910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3" name="Google Shape;243;p23"/>
          <p:cNvSpPr txBox="1"/>
          <p:nvPr/>
        </p:nvSpPr>
        <p:spPr>
          <a:xfrm>
            <a:off x="571500" y="1614625"/>
            <a:ext cx="10736400" cy="366125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a:buNone/>
            </a:pPr>
            <a:endParaRPr sz="1700" b="1" dirty="0">
              <a:solidFill>
                <a:schemeClr val="dk1"/>
              </a:solidFill>
              <a:latin typeface="Poppins" panose="00000500000000000000" pitchFamily="2" charset="0"/>
              <a:ea typeface="Poppins"/>
              <a:cs typeface="Poppins" panose="00000500000000000000" pitchFamily="2" charset="0"/>
              <a:sym typeface="Poppins"/>
            </a:endParaRPr>
          </a:p>
          <a:p>
            <a:pPr marL="457200" lvl="0" indent="-317500">
              <a:lnSpc>
                <a:spcPct val="115000"/>
              </a:lnSpc>
              <a:spcBef>
                <a:spcPts val="400"/>
              </a:spcBef>
              <a:buClr>
                <a:schemeClr val="dk1"/>
              </a:buClr>
              <a:buSzPts val="1400"/>
              <a:buFont typeface="Poppins"/>
              <a:buChar char="●"/>
            </a:pPr>
            <a:r>
              <a:rPr lang="en-US" dirty="0">
                <a:latin typeface="Poppins" panose="00000500000000000000" pitchFamily="2" charset="0"/>
                <a:cs typeface="Poppins" panose="00000500000000000000" pitchFamily="2" charset="0"/>
              </a:rPr>
              <a:t>Enable cloud audit logging at the organization level and across all regions from day one. </a:t>
            </a:r>
            <a:r>
              <a:rPr lang="en-US" dirty="0">
                <a:solidFill>
                  <a:schemeClr val="dk1"/>
                </a:solidFill>
                <a:latin typeface="Poppins" panose="00000500000000000000" pitchFamily="2" charset="0"/>
                <a:ea typeface="Poppins"/>
                <a:cs typeface="Poppins" panose="00000500000000000000" pitchFamily="2" charset="0"/>
                <a:sym typeface="Poppins"/>
              </a:rPr>
              <a:t>Every CloudWatch Log Group must have an explicit retention policy. </a:t>
            </a:r>
            <a:endParaRPr dirty="0">
              <a:solidFill>
                <a:schemeClr val="dk1"/>
              </a:solidFill>
              <a:latin typeface="Poppins" panose="00000500000000000000" pitchFamily="2" charset="0"/>
              <a:ea typeface="Poppins"/>
              <a:cs typeface="Poppins" panose="00000500000000000000" pitchFamily="2" charset="0"/>
              <a:sym typeface="Poppins"/>
            </a:endParaRPr>
          </a:p>
          <a:p>
            <a:pPr marL="457200" lvl="0" indent="-317500">
              <a:lnSpc>
                <a:spcPct val="115000"/>
              </a:lnSpc>
              <a:buClr>
                <a:schemeClr val="dk1"/>
              </a:buClr>
              <a:buSzPts val="1400"/>
              <a:buFont typeface="Poppins"/>
              <a:buChar char="●"/>
            </a:pPr>
            <a:r>
              <a:rPr lang="en-US" dirty="0">
                <a:latin typeface="Poppins" panose="00000500000000000000" pitchFamily="2" charset="0"/>
                <a:cs typeface="Poppins" panose="00000500000000000000" pitchFamily="2" charset="0"/>
              </a:rPr>
              <a:t>Every log group or log container must have an explicit retention policy defined at creation.</a:t>
            </a:r>
          </a:p>
          <a:p>
            <a:pPr marL="457200" lvl="0" indent="-317500">
              <a:lnSpc>
                <a:spcPct val="115000"/>
              </a:lnSpc>
              <a:buClr>
                <a:schemeClr val="dk1"/>
              </a:buClr>
              <a:buSzPts val="1400"/>
              <a:buFont typeface="Poppins"/>
              <a:buChar char="●"/>
            </a:pPr>
            <a:r>
              <a:rPr lang="en-US" dirty="0">
                <a:solidFill>
                  <a:schemeClr val="dk1"/>
                </a:solidFill>
                <a:latin typeface="Poppins" panose="00000500000000000000" pitchFamily="2" charset="0"/>
                <a:ea typeface="Poppins"/>
                <a:cs typeface="Poppins" panose="00000500000000000000" pitchFamily="2" charset="0"/>
                <a:sym typeface="Poppins"/>
              </a:rPr>
              <a:t>Use structured logging (JSON) in all applications. Unstructured text logs require complex parsing; structured logs can be queried directly.</a:t>
            </a:r>
            <a:endParaRPr dirty="0">
              <a:solidFill>
                <a:schemeClr val="dk1"/>
              </a:solidFill>
              <a:latin typeface="Poppins" panose="00000500000000000000" pitchFamily="2" charset="0"/>
              <a:ea typeface="Poppins"/>
              <a:cs typeface="Poppins" panose="00000500000000000000" pitchFamily="2" charset="0"/>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panose="00000500000000000000" pitchFamily="2" charset="0"/>
                <a:ea typeface="Poppins"/>
                <a:cs typeface="Poppins" panose="00000500000000000000" pitchFamily="2" charset="0"/>
                <a:sym typeface="Poppins"/>
              </a:rPr>
              <a:t>Separate log storage accounts from workload accounts. A compromised workload account should not be able to delete or modify its own audit logs.</a:t>
            </a:r>
            <a:endParaRPr dirty="0">
              <a:solidFill>
                <a:schemeClr val="dk1"/>
              </a:solidFill>
              <a:latin typeface="Poppins" panose="00000500000000000000" pitchFamily="2" charset="0"/>
              <a:ea typeface="Poppins"/>
              <a:cs typeface="Poppins" panose="00000500000000000000" pitchFamily="2" charset="0"/>
              <a:sym typeface="Poppins"/>
            </a:endParaRPr>
          </a:p>
          <a:p>
            <a:pPr marL="457200" lvl="0" indent="-317500">
              <a:lnSpc>
                <a:spcPct val="115000"/>
              </a:lnSpc>
              <a:buClr>
                <a:schemeClr val="dk1"/>
              </a:buClr>
              <a:buSzPts val="1400"/>
              <a:buFont typeface="Poppins"/>
              <a:buChar char="●"/>
            </a:pPr>
            <a:r>
              <a:rPr lang="en-US" dirty="0">
                <a:latin typeface="Poppins" panose="00000500000000000000" pitchFamily="2" charset="0"/>
                <a:cs typeface="Poppins" panose="00000500000000000000" pitchFamily="2" charset="0"/>
              </a:rPr>
              <a:t>Never treat your cloud provider's native log query service as your long-term analysis solution.</a:t>
            </a:r>
          </a:p>
          <a:p>
            <a:pPr marL="457200" lvl="0" indent="-317500">
              <a:lnSpc>
                <a:spcPct val="115000"/>
              </a:lnSpc>
              <a:buClr>
                <a:schemeClr val="dk1"/>
              </a:buClr>
              <a:buSzPts val="1400"/>
              <a:buFont typeface="Poppins"/>
              <a:buChar char="●"/>
            </a:pPr>
            <a:r>
              <a:rPr lang="en-US" dirty="0">
                <a:latin typeface="Poppins" panose="00000500000000000000" pitchFamily="2" charset="0"/>
                <a:cs typeface="Poppins" panose="00000500000000000000" pitchFamily="2" charset="0"/>
              </a:rPr>
              <a:t>Derive reliability metrics directly from logs and track them against defined service level objectives.</a:t>
            </a:r>
          </a:p>
          <a:p>
            <a:pPr marL="457200" lvl="0" indent="-317500">
              <a:lnSpc>
                <a:spcPct val="115000"/>
              </a:lnSpc>
              <a:buClr>
                <a:schemeClr val="dk1"/>
              </a:buClr>
              <a:buSzPts val="1400"/>
              <a:buFont typeface="Poppins"/>
              <a:buChar char="●"/>
            </a:pPr>
            <a:r>
              <a:rPr lang="en-US" dirty="0">
                <a:solidFill>
                  <a:schemeClr val="dk1"/>
                </a:solidFill>
                <a:latin typeface="Poppins" panose="00000500000000000000" pitchFamily="2" charset="0"/>
                <a:ea typeface="Poppins"/>
                <a:cs typeface="Poppins" panose="00000500000000000000" pitchFamily="2" charset="0"/>
                <a:sym typeface="Poppins"/>
              </a:rPr>
              <a:t>Review  log sources quarterly. Unused log groups, forgotten debug outputs, and duplicate streams add cost without adding value.</a:t>
            </a:r>
            <a:endParaRPr dirty="0">
              <a:solidFill>
                <a:schemeClr val="dk1"/>
              </a:solidFill>
              <a:latin typeface="Poppins" panose="00000500000000000000" pitchFamily="2" charset="0"/>
              <a:ea typeface="Poppins"/>
              <a:cs typeface="Poppins" panose="00000500000000000000" pitchFamily="2" charset="0"/>
              <a:sym typeface="Poppins"/>
            </a:endParaRPr>
          </a:p>
          <a:p>
            <a:pPr marL="457200" marR="0" lvl="0" indent="0" algn="l" rtl="0">
              <a:lnSpc>
                <a:spcPct val="140000"/>
              </a:lnSpc>
              <a:spcBef>
                <a:spcPts val="400"/>
              </a:spcBef>
              <a:spcAft>
                <a:spcPts val="0"/>
              </a:spcAft>
              <a:buNone/>
            </a:pPr>
            <a:endParaRPr dirty="0">
              <a:solidFill>
                <a:srgbClr val="444444"/>
              </a:solidFill>
              <a:latin typeface="Poppins" panose="00000500000000000000" pitchFamily="2" charset="0"/>
              <a:ea typeface="Poppins"/>
              <a:cs typeface="Poppins" panose="00000500000000000000" pitchFamily="2" charset="0"/>
              <a:sym typeface="Poppins"/>
            </a:endParaRPr>
          </a:p>
        </p:txBody>
      </p:sp>
      <p:sp>
        <p:nvSpPr>
          <p:cNvPr id="244" name="Google Shape;244;p23"/>
          <p:cNvSpPr txBox="1"/>
          <p:nvPr/>
        </p:nvSpPr>
        <p:spPr>
          <a:xfrm>
            <a:off x="762000" y="571500"/>
            <a:ext cx="114015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Font typeface="Arial"/>
              <a:buNone/>
            </a:pPr>
            <a:r>
              <a:rPr lang="en-US" sz="2850" b="1">
                <a:solidFill>
                  <a:srgbClr val="232F3E"/>
                </a:solidFill>
                <a:latin typeface="Poppins" panose="00000500000000000000" pitchFamily="2" charset="0"/>
                <a:ea typeface="Poppins"/>
                <a:cs typeface="Poppins" panose="00000500000000000000" pitchFamily="2" charset="0"/>
                <a:sym typeface="Poppins"/>
              </a:rPr>
              <a:t>Best Practices Summary</a:t>
            </a:r>
            <a:r>
              <a:rPr lang="en-US" sz="1700" b="1">
                <a:solidFill>
                  <a:schemeClr val="dk1"/>
                </a:solidFill>
                <a:latin typeface="Poppins" panose="00000500000000000000" pitchFamily="2" charset="0"/>
                <a:cs typeface="Poppins" panose="00000500000000000000" pitchFamily="2" charset="0"/>
              </a:rPr>
              <a:t> </a:t>
            </a:r>
            <a:endParaRPr>
              <a:latin typeface="Poppins" panose="00000500000000000000" pitchFamily="2" charset="0"/>
              <a:cs typeface="Poppins" panose="00000500000000000000" pitchFamily="2" charset="0"/>
            </a:endParaRPr>
          </a:p>
        </p:txBody>
      </p:sp>
      <p:sp>
        <p:nvSpPr>
          <p:cNvPr id="245" name="Google Shape;245;p23"/>
          <p:cNvSpPr/>
          <p:nvPr/>
        </p:nvSpPr>
        <p:spPr>
          <a:xfrm>
            <a:off x="571500" y="571500"/>
            <a:ext cx="57300" cy="543000"/>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Poppins" panose="00000500000000000000" pitchFamily="2" charset="0"/>
              <a:ea typeface="Calibri"/>
              <a:cs typeface="Poppins" panose="00000500000000000000" pitchFamily="2" charset="0"/>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a:extLst>
            <a:ext uri="{FF2B5EF4-FFF2-40B4-BE49-F238E27FC236}">
              <a16:creationId xmlns:a16="http://schemas.microsoft.com/office/drawing/2014/main" id="{F83D247E-6B60-8255-3878-B93B5BCD402C}"/>
            </a:ext>
          </a:extLst>
        </p:cNvPr>
        <p:cNvGrpSpPr/>
        <p:nvPr/>
      </p:nvGrpSpPr>
      <p:grpSpPr>
        <a:xfrm>
          <a:off x="0" y="0"/>
          <a:ext cx="0" cy="0"/>
          <a:chOff x="0" y="0"/>
          <a:chExt cx="0" cy="0"/>
        </a:xfrm>
      </p:grpSpPr>
      <p:pic>
        <p:nvPicPr>
          <p:cNvPr id="242" name="Google Shape;242;p23" descr="image.png">
            <a:extLst>
              <a:ext uri="{FF2B5EF4-FFF2-40B4-BE49-F238E27FC236}">
                <a16:creationId xmlns:a16="http://schemas.microsoft.com/office/drawing/2014/main" id="{76AA95CE-BCCD-9486-3BC9-B3FF837C402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3" name="Google Shape;243;p23">
            <a:extLst>
              <a:ext uri="{FF2B5EF4-FFF2-40B4-BE49-F238E27FC236}">
                <a16:creationId xmlns:a16="http://schemas.microsoft.com/office/drawing/2014/main" id="{EE6819AF-BC69-B2BA-4562-FDC9F65A8F0D}"/>
              </a:ext>
            </a:extLst>
          </p:cNvPr>
          <p:cNvSpPr txBox="1"/>
          <p:nvPr/>
        </p:nvSpPr>
        <p:spPr>
          <a:xfrm>
            <a:off x="571500" y="1614625"/>
            <a:ext cx="10736400" cy="3882088"/>
          </a:xfrm>
          <a:prstGeom prst="rect">
            <a:avLst/>
          </a:prstGeom>
          <a:noFill/>
          <a:ln>
            <a:noFill/>
          </a:ln>
        </p:spPr>
        <p:txBody>
          <a:bodyPr spcFirstLastPara="1" wrap="square" lIns="0" tIns="0" rIns="0" bIns="0" anchor="t" anchorCtr="0">
            <a:spAutoFit/>
          </a:bodyPr>
          <a:lstStyle/>
          <a:p>
            <a:pPr marL="457200" lvl="0">
              <a:lnSpc>
                <a:spcPct val="140000"/>
              </a:lnSpc>
              <a:spcBef>
                <a:spcPts val="400"/>
              </a:spcBef>
            </a:pPr>
            <a:r>
              <a:rPr lang="en-US" dirty="0">
                <a:hlinkClick r:id="rId4"/>
              </a:rPr>
              <a:t>Amazon CloudWatch Pricing | Free Tier Available</a:t>
            </a:r>
            <a:endParaRPr lang="en-US" dirty="0"/>
          </a:p>
          <a:p>
            <a:pPr marL="457200" lvl="0">
              <a:lnSpc>
                <a:spcPct val="140000"/>
              </a:lnSpc>
              <a:spcBef>
                <a:spcPts val="400"/>
              </a:spcBef>
            </a:pPr>
            <a:r>
              <a:rPr lang="en-US" dirty="0" err="1">
                <a:hlinkClick r:id="rId5"/>
              </a:rPr>
              <a:t>aws_cloudwatch_log_group</a:t>
            </a:r>
            <a:r>
              <a:rPr lang="en-US" dirty="0">
                <a:hlinkClick r:id="rId5"/>
              </a:rPr>
              <a:t> | Resources | </a:t>
            </a:r>
            <a:r>
              <a:rPr lang="en-US" dirty="0" err="1">
                <a:hlinkClick r:id="rId5"/>
              </a:rPr>
              <a:t>hashicorp</a:t>
            </a:r>
            <a:r>
              <a:rPr lang="en-US" dirty="0">
                <a:hlinkClick r:id="rId5"/>
              </a:rPr>
              <a:t>/</a:t>
            </a:r>
            <a:r>
              <a:rPr lang="en-US" dirty="0" err="1">
                <a:hlinkClick r:id="rId5"/>
              </a:rPr>
              <a:t>aws</a:t>
            </a:r>
            <a:r>
              <a:rPr lang="en-US" dirty="0">
                <a:hlinkClick r:id="rId5"/>
              </a:rPr>
              <a:t> | Terraform | Terraform Registry</a:t>
            </a:r>
            <a:endParaRPr lang="en-US" dirty="0"/>
          </a:p>
          <a:p>
            <a:pPr marL="457200" lvl="0">
              <a:lnSpc>
                <a:spcPct val="140000"/>
              </a:lnSpc>
              <a:spcBef>
                <a:spcPts val="400"/>
              </a:spcBef>
            </a:pPr>
            <a:r>
              <a:rPr lang="en-US" dirty="0">
                <a:hlinkClick r:id="rId6"/>
              </a:rPr>
              <a:t>What Is AWS CloudTrail? - AWS CloudTrail</a:t>
            </a:r>
            <a:endParaRPr lang="en-US" dirty="0"/>
          </a:p>
          <a:p>
            <a:pPr marL="457200" lvl="0">
              <a:lnSpc>
                <a:spcPct val="140000"/>
              </a:lnSpc>
              <a:spcBef>
                <a:spcPts val="400"/>
              </a:spcBef>
            </a:pPr>
            <a:r>
              <a:rPr lang="en-US" dirty="0">
                <a:hlinkClick r:id="rId7"/>
              </a:rPr>
              <a:t>cloudflare-incident-on-november-14-2024-resulting-in-lost-logs</a:t>
            </a:r>
            <a:endParaRPr lang="en-US" dirty="0"/>
          </a:p>
          <a:p>
            <a:pPr marL="457200" lvl="0">
              <a:lnSpc>
                <a:spcPct val="140000"/>
              </a:lnSpc>
              <a:spcBef>
                <a:spcPts val="400"/>
              </a:spcBef>
            </a:pPr>
            <a:r>
              <a:rPr lang="en-US" dirty="0" err="1">
                <a:hlinkClick r:id="rId8"/>
              </a:rPr>
              <a:t>microsoft</a:t>
            </a:r>
            <a:r>
              <a:rPr lang="en-US" dirty="0">
                <a:hlinkClick r:id="rId8"/>
              </a:rPr>
              <a:t>-loses-security-logs-cloud-services</a:t>
            </a:r>
            <a:endParaRPr lang="en-US" dirty="0"/>
          </a:p>
          <a:p>
            <a:pPr marL="457200" lvl="0">
              <a:lnSpc>
                <a:spcPct val="140000"/>
              </a:lnSpc>
              <a:spcBef>
                <a:spcPts val="400"/>
              </a:spcBef>
            </a:pPr>
            <a:r>
              <a:rPr lang="en-US" dirty="0">
                <a:hlinkClick r:id="rId9"/>
              </a:rPr>
              <a:t>Memorial-healthcare-system-terminated-employee-access</a:t>
            </a:r>
            <a:endParaRPr lang="en-US" dirty="0"/>
          </a:p>
          <a:p>
            <a:pPr marL="457200" lvl="0">
              <a:lnSpc>
                <a:spcPct val="140000"/>
              </a:lnSpc>
              <a:spcBef>
                <a:spcPts val="400"/>
              </a:spcBef>
            </a:pPr>
            <a:r>
              <a:rPr lang="en-US" dirty="0">
                <a:hlinkClick r:id="rId10"/>
              </a:rPr>
              <a:t>What is Amazon CloudWatch Logs? - Amazon CloudWatch Logs</a:t>
            </a:r>
            <a:endParaRPr lang="en-US" dirty="0"/>
          </a:p>
          <a:p>
            <a:pPr marL="457200" lvl="0">
              <a:lnSpc>
                <a:spcPct val="140000"/>
              </a:lnSpc>
              <a:spcBef>
                <a:spcPts val="400"/>
              </a:spcBef>
            </a:pPr>
            <a:r>
              <a:rPr lang="en-US" dirty="0">
                <a:hlinkClick r:id="rId11"/>
              </a:rPr>
              <a:t>Creating metric filters - Amazon CloudWatch Logs</a:t>
            </a:r>
            <a:endParaRPr lang="en-US" dirty="0"/>
          </a:p>
          <a:p>
            <a:pPr marL="457200" lvl="0">
              <a:lnSpc>
                <a:spcPct val="140000"/>
              </a:lnSpc>
              <a:spcBef>
                <a:spcPts val="400"/>
              </a:spcBef>
            </a:pPr>
            <a:r>
              <a:rPr lang="en-US" dirty="0">
                <a:hlinkClick r:id="rId12"/>
              </a:rPr>
              <a:t>Log anomaly detection - Amazon CloudWatch Logs</a:t>
            </a:r>
            <a:endParaRPr lang="en-US" dirty="0"/>
          </a:p>
          <a:p>
            <a:pPr marL="457200" lvl="0">
              <a:lnSpc>
                <a:spcPct val="140000"/>
              </a:lnSpc>
              <a:spcBef>
                <a:spcPts val="400"/>
              </a:spcBef>
            </a:pPr>
            <a:endParaRPr lang="en-US" dirty="0"/>
          </a:p>
          <a:p>
            <a:pPr marL="457200" lvl="0">
              <a:lnSpc>
                <a:spcPct val="140000"/>
              </a:lnSpc>
              <a:spcBef>
                <a:spcPts val="400"/>
              </a:spcBef>
            </a:pPr>
            <a:endParaRPr dirty="0">
              <a:solidFill>
                <a:srgbClr val="444444"/>
              </a:solidFill>
              <a:latin typeface="Poppins"/>
              <a:ea typeface="Poppins"/>
              <a:cs typeface="Poppins"/>
              <a:sym typeface="Poppins"/>
            </a:endParaRPr>
          </a:p>
        </p:txBody>
      </p:sp>
      <p:sp>
        <p:nvSpPr>
          <p:cNvPr id="244" name="Google Shape;244;p23">
            <a:extLst>
              <a:ext uri="{FF2B5EF4-FFF2-40B4-BE49-F238E27FC236}">
                <a16:creationId xmlns:a16="http://schemas.microsoft.com/office/drawing/2014/main" id="{EB5271D5-DAFB-728A-78A0-9D421DD949B9}"/>
              </a:ext>
            </a:extLst>
          </p:cNvPr>
          <p:cNvSpPr txBox="1"/>
          <p:nvPr/>
        </p:nvSpPr>
        <p:spPr>
          <a:xfrm>
            <a:off x="762000" y="571500"/>
            <a:ext cx="11401500"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Font typeface="Arial"/>
              <a:buNone/>
            </a:pPr>
            <a:r>
              <a:rPr lang="en-US" sz="2850" b="1" dirty="0">
                <a:solidFill>
                  <a:srgbClr val="232F3E"/>
                </a:solidFill>
                <a:latin typeface="Poppins"/>
                <a:cs typeface="Poppins"/>
                <a:sym typeface="Poppins"/>
              </a:rPr>
              <a:t>References</a:t>
            </a:r>
            <a:r>
              <a:rPr lang="en-US" sz="1700" b="1" dirty="0">
                <a:solidFill>
                  <a:schemeClr val="dk1"/>
                </a:solidFill>
              </a:rPr>
              <a:t> </a:t>
            </a:r>
            <a:endParaRPr dirty="0"/>
          </a:p>
        </p:txBody>
      </p:sp>
      <p:sp>
        <p:nvSpPr>
          <p:cNvPr id="245" name="Google Shape;245;p23">
            <a:extLst>
              <a:ext uri="{FF2B5EF4-FFF2-40B4-BE49-F238E27FC236}">
                <a16:creationId xmlns:a16="http://schemas.microsoft.com/office/drawing/2014/main" id="{B6A18E1B-65A2-305D-91C7-0A68F850A5D8}"/>
              </a:ext>
            </a:extLst>
          </p:cNvPr>
          <p:cNvSpPr/>
          <p:nvPr/>
        </p:nvSpPr>
        <p:spPr>
          <a:xfrm>
            <a:off x="571500" y="571500"/>
            <a:ext cx="57300" cy="543000"/>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018229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1534</Words>
  <Application>Microsoft Office PowerPoint</Application>
  <PresentationFormat>Widescreen</PresentationFormat>
  <Paragraphs>155</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Poppins</vt:lpstr>
      <vt:lpstr>Lato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Erona Sermaxhaj</dc:creator>
  <cp:lastModifiedBy>Vlera Mehmeti</cp:lastModifiedBy>
  <cp:revision>5</cp:revision>
  <dcterms:modified xsi:type="dcterms:W3CDTF">2026-05-14T03:38:08Z</dcterms:modified>
</cp:coreProperties>
</file>